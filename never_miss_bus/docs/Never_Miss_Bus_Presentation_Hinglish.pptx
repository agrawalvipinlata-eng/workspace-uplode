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 sec): 'Good morning! Ek sawaal — kitne logon ke ghar mein roz subah yeh tension hoti hai: bus aayi ya nikal gayi? Aaj main aapko dikhata hoon iska solution — Never Miss Bus, hamare school ka apna secure bus tracking app, jo Android aur iPhone dono par chalta 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(1 min): Relatable banao — audience se poochho 'Kitne logon ne yeh feel kiya hai?' Last point important: normal GPS-sharing apps bachchon ke liye unsafe hain kyunki koi bhi link se location dekh sakta hai.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(1.5 min): Teen roles clearly batao. Key line: 'Student ko email yaad rakhne ki zaroorat nahi — bas Class, Section, Roll number aur password. Aur student sirf APNI bus dekh sakta hai — yeh rule server par hai, hack karke bhi nahi tuteta.'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(1.5 min): Mockups par point karo. Honest-status highlight karo: 'Agar driver ka network chala jaye, app clearly batati hai location kitni purani hai. Yeh trust build karta hai.'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DRIVER+ADMIN (1.5 min): Driver safety par zor do — 'Driver ko driving ke time phone chhoona hi nahi padta.' Admin side: 'School ke paas full control hai.'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(2 min): Yeh slide parents/principal ke liye sabse important. Single-device feature highlight karo: 'WhatsApp jaisa — ek account ek hi phone par. Password share ho bhi jaye, ek time par ek hi device chalega, aur admin ko dikhega kaun kahan logged in hai.'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(1 min): Simple rakho — 'Google ki hi technology par bana hai. Android phone ke liye APK ready hai. iPhone ke liye same code hai, bas Apple ka developer account chahiye jo school le sakta hai. Chalane ka kharcha lagbhag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(3-4 min): 2 phones ready rakho. Step 5 ka single-device demo sabse impressive hai — audience ko live dikhao ki dusre phone par login karte hi pehla logout ho jaata hai. Backup video zaroor banao pehle 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(30 sec): Confident end karo. Pilot proposal do — 'Ek bus se shuru karte hain, 2 hafte mein results dikha denge.' Phir Q&amp;A. All the best!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1A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272887" y="640080"/>
            <a:ext cx="1645920" cy="1645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28919" y="1115568"/>
            <a:ext cx="1133856" cy="566928"/>
          </a:xfrm>
          <a:prstGeom prst="roundRect">
            <a:avLst>
              <a:gd name="adj" fmla="val 8000"/>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6079" y="1207008"/>
            <a:ext cx="219456" cy="164592"/>
          </a:xfrm>
          <a:prstGeom prst="roundRect">
            <a:avLst>
              <a:gd name="adj" fmla="val 8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76975" y="1207008"/>
            <a:ext cx="219456" cy="164592"/>
          </a:xfrm>
          <a:prstGeom prst="roundRect">
            <a:avLst>
              <a:gd name="adj" fmla="val 8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87871" y="1207008"/>
            <a:ext cx="219456" cy="164592"/>
          </a:xfrm>
          <a:prstGeom prst="roundRect">
            <a:avLst>
              <a:gd name="adj" fmla="val 8000"/>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93511" y="1609344"/>
            <a:ext cx="164592" cy="164592"/>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33591" y="1609344"/>
            <a:ext cx="164592" cy="164592"/>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0" y="2514600"/>
            <a:ext cx="12191695" cy="914400"/>
          </a:xfrm>
          <a:prstGeom prst="rect">
            <a:avLst/>
          </a:prstGeom>
          <a:noFill/>
        </p:spPr>
        <p:txBody>
          <a:bodyPr wrap="square" anchor="t">
            <a:spAutoFit/>
          </a:bodyPr>
          <a:lstStyle/>
          <a:p>
            <a:pPr algn="ctr">
              <a:spcAft>
                <a:spcPts val="600"/>
              </a:spcAft>
            </a:pPr>
            <a:r>
              <a:rPr sz="5200" b="1">
                <a:solidFill>
                  <a:srgbClr val="FFFFFF"/>
                </a:solidFill>
                <a:latin typeface="Calibri"/>
              </a:rPr>
              <a:t>NEVER MISS BUS</a:t>
            </a:r>
          </a:p>
        </p:txBody>
      </p:sp>
      <p:sp>
        <p:nvSpPr>
          <p:cNvPr id="12" name="TextBox 11"/>
          <p:cNvSpPr txBox="1"/>
          <p:nvPr/>
        </p:nvSpPr>
        <p:spPr>
          <a:xfrm>
            <a:off x="0" y="3383280"/>
            <a:ext cx="12191695" cy="548640"/>
          </a:xfrm>
          <a:prstGeom prst="rect">
            <a:avLst/>
          </a:prstGeom>
          <a:noFill/>
        </p:spPr>
        <p:txBody>
          <a:bodyPr wrap="square" anchor="t">
            <a:spAutoFit/>
          </a:bodyPr>
          <a:lstStyle/>
          <a:p>
            <a:pPr algn="ctr">
              <a:spcAft>
                <a:spcPts val="600"/>
              </a:spcAft>
            </a:pPr>
            <a:r>
              <a:rPr sz="2200" b="0">
                <a:solidFill>
                  <a:srgbClr val="CFE0FF"/>
                </a:solidFill>
                <a:latin typeface="Calibri"/>
              </a:rPr>
              <a:t>School Bus Live-Tracking App — Ab Bus Miss Nahi Hogi! 🚌</a:t>
            </a:r>
          </a:p>
        </p:txBody>
      </p:sp>
      <p:sp>
        <p:nvSpPr>
          <p:cNvPr id="13" name="Rounded Rectangle 12"/>
          <p:cNvSpPr/>
          <p:nvPr/>
        </p:nvSpPr>
        <p:spPr>
          <a:xfrm>
            <a:off x="3992727" y="4069080"/>
            <a:ext cx="4206240" cy="502920"/>
          </a:xfrm>
          <a:prstGeom prst="roundRect">
            <a:avLst>
              <a:gd name="adj" fmla="val 8000"/>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92727" y="4123944"/>
            <a:ext cx="4206240" cy="411480"/>
          </a:xfrm>
          <a:prstGeom prst="rect">
            <a:avLst/>
          </a:prstGeom>
          <a:noFill/>
        </p:spPr>
        <p:txBody>
          <a:bodyPr wrap="square" anchor="t">
            <a:spAutoFit/>
          </a:bodyPr>
          <a:lstStyle/>
          <a:p>
            <a:pPr algn="ctr">
              <a:spcAft>
                <a:spcPts val="600"/>
              </a:spcAft>
            </a:pPr>
            <a:r>
              <a:rPr sz="1600" b="1">
                <a:solidFill>
                  <a:srgbClr val="5B3C00"/>
                </a:solidFill>
                <a:latin typeface="Calibri"/>
              </a:rPr>
              <a:t>SRBS INTERNATIONAL SCHOOL</a:t>
            </a:r>
          </a:p>
        </p:txBody>
      </p:sp>
      <p:sp>
        <p:nvSpPr>
          <p:cNvPr id="15" name="TextBox 14"/>
          <p:cNvSpPr txBox="1"/>
          <p:nvPr/>
        </p:nvSpPr>
        <p:spPr>
          <a:xfrm>
            <a:off x="0" y="4892040"/>
            <a:ext cx="12191695" cy="457200"/>
          </a:xfrm>
          <a:prstGeom prst="rect">
            <a:avLst/>
          </a:prstGeom>
          <a:noFill/>
        </p:spPr>
        <p:txBody>
          <a:bodyPr wrap="square" anchor="t">
            <a:spAutoFit/>
          </a:bodyPr>
          <a:lstStyle/>
          <a:p>
            <a:pPr algn="ctr">
              <a:spcAft>
                <a:spcPts val="600"/>
              </a:spcAft>
            </a:pPr>
            <a:r>
              <a:rPr sz="1600" b="0">
                <a:solidFill>
                  <a:srgbClr val="CFE0FF"/>
                </a:solidFill>
                <a:latin typeface="Calibri"/>
              </a:rPr>
              <a:t>📱 Android + iOS (iPhone) dono ke liye  ·  Ek hi app — Student, Driver, Admin</a:t>
            </a:r>
          </a:p>
        </p:txBody>
      </p:sp>
      <p:sp>
        <p:nvSpPr>
          <p:cNvPr id="16" name="TextBox 15"/>
          <p:cNvSpPr txBox="1"/>
          <p:nvPr/>
        </p:nvSpPr>
        <p:spPr>
          <a:xfrm>
            <a:off x="0" y="6080760"/>
            <a:ext cx="12191695" cy="457200"/>
          </a:xfrm>
          <a:prstGeom prst="rect">
            <a:avLst/>
          </a:prstGeom>
          <a:noFill/>
        </p:spPr>
        <p:txBody>
          <a:bodyPr wrap="square" anchor="t">
            <a:spAutoFit/>
          </a:bodyPr>
          <a:lstStyle/>
          <a:p>
            <a:pPr algn="ctr">
              <a:spcAft>
                <a:spcPts val="600"/>
              </a:spcAft>
            </a:pPr>
            <a:r>
              <a:rPr sz="1400" b="0">
                <a:solidFill>
                  <a:srgbClr val="FFFFFF"/>
                </a:solidFill>
                <a:latin typeface="Calibri"/>
              </a:rPr>
              <a:t>Presented by:  [Apna naam]     |     Version 1.2.0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THE PROBLEM / SAMASYA</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Roz Subah Ki Tension — Bus Kahan Hai?</a:t>
            </a:r>
          </a:p>
        </p:txBody>
      </p:sp>
      <p:sp>
        <p:nvSpPr>
          <p:cNvPr id="6" name="Rounded Rectangle 5"/>
          <p:cNvSpPr/>
          <p:nvPr/>
        </p:nvSpPr>
        <p:spPr>
          <a:xfrm>
            <a:off x="548640" y="1554480"/>
            <a:ext cx="11064240" cy="84124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64208"/>
            <a:ext cx="10515600" cy="640080"/>
          </a:xfrm>
          <a:prstGeom prst="rect">
            <a:avLst/>
          </a:prstGeom>
          <a:noFill/>
        </p:spPr>
        <p:txBody>
          <a:bodyPr wrap="square" anchor="t">
            <a:spAutoFit/>
          </a:bodyPr>
          <a:lstStyle/>
          <a:p>
            <a:pPr algn="l">
              <a:spcAft>
                <a:spcPts val="200"/>
              </a:spcAft>
            </a:pPr>
            <a:r>
              <a:rPr sz="1800" b="1">
                <a:solidFill>
                  <a:srgbClr val="17233B"/>
                </a:solidFill>
                <a:latin typeface="Calibri"/>
              </a:rPr>
              <a:t>Students stop par wait karte hain</a:t>
            </a:r>
          </a:p>
          <a:p>
            <a:pPr algn="l">
              <a:spcAft>
                <a:spcPts val="200"/>
              </a:spcAft>
            </a:pPr>
            <a:r>
              <a:rPr sz="1400" b="0">
                <a:solidFill>
                  <a:srgbClr val="5A6779"/>
                </a:solidFill>
                <a:latin typeface="Calibri"/>
              </a:rPr>
              <a:t>pata nahi bus 2 minute door hai ya 20 minute</a:t>
            </a:r>
          </a:p>
        </p:txBody>
      </p:sp>
      <p:sp>
        <p:nvSpPr>
          <p:cNvPr id="8" name="Rounded Rectangle 7"/>
          <p:cNvSpPr/>
          <p:nvPr/>
        </p:nvSpPr>
        <p:spPr>
          <a:xfrm>
            <a:off x="548640" y="2523744"/>
            <a:ext cx="11064240" cy="84124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33472"/>
            <a:ext cx="10515600" cy="640080"/>
          </a:xfrm>
          <a:prstGeom prst="rect">
            <a:avLst/>
          </a:prstGeom>
          <a:noFill/>
        </p:spPr>
        <p:txBody>
          <a:bodyPr wrap="square" anchor="t">
            <a:spAutoFit/>
          </a:bodyPr>
          <a:lstStyle/>
          <a:p>
            <a:pPr algn="l">
              <a:spcAft>
                <a:spcPts val="200"/>
              </a:spcAft>
            </a:pPr>
            <a:r>
              <a:rPr sz="1800" b="1">
                <a:solidFill>
                  <a:srgbClr val="17233B"/>
                </a:solidFill>
                <a:latin typeface="Calibri"/>
              </a:rPr>
              <a:t>Parents pareshan rehte hain</a:t>
            </a:r>
          </a:p>
          <a:p>
            <a:pPr algn="l">
              <a:spcAft>
                <a:spcPts val="200"/>
              </a:spcAft>
            </a:pPr>
            <a:r>
              <a:rPr sz="1400" b="0">
                <a:solidFill>
                  <a:srgbClr val="5A6779"/>
                </a:solidFill>
                <a:latin typeface="Calibri"/>
              </a:rPr>
              <a:t>bachcha nikla, bus aayi ya nahi — koi information nahi</a:t>
            </a:r>
          </a:p>
        </p:txBody>
      </p:sp>
      <p:sp>
        <p:nvSpPr>
          <p:cNvPr id="10" name="Rounded Rectangle 9"/>
          <p:cNvSpPr/>
          <p:nvPr/>
        </p:nvSpPr>
        <p:spPr>
          <a:xfrm>
            <a:off x="548640" y="3493008"/>
            <a:ext cx="11064240" cy="84124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02736"/>
            <a:ext cx="10515600" cy="640080"/>
          </a:xfrm>
          <a:prstGeom prst="rect">
            <a:avLst/>
          </a:prstGeom>
          <a:noFill/>
        </p:spPr>
        <p:txBody>
          <a:bodyPr wrap="square" anchor="t">
            <a:spAutoFit/>
          </a:bodyPr>
          <a:lstStyle/>
          <a:p>
            <a:pPr algn="l">
              <a:spcAft>
                <a:spcPts val="200"/>
              </a:spcAft>
            </a:pPr>
            <a:r>
              <a:rPr sz="1800" b="1">
                <a:solidFill>
                  <a:srgbClr val="17233B"/>
                </a:solidFill>
                <a:latin typeface="Calibri"/>
              </a:rPr>
              <a:t>Bus miss = poora din kharab</a:t>
            </a:r>
          </a:p>
          <a:p>
            <a:pPr algn="l">
              <a:spcAft>
                <a:spcPts val="200"/>
              </a:spcAft>
            </a:pPr>
            <a:r>
              <a:rPr sz="1400" b="0">
                <a:solidFill>
                  <a:srgbClr val="5A6779"/>
                </a:solidFill>
                <a:latin typeface="Calibri"/>
              </a:rPr>
              <a:t>late arrival, extra trip, phone calls</a:t>
            </a:r>
          </a:p>
        </p:txBody>
      </p:sp>
      <p:sp>
        <p:nvSpPr>
          <p:cNvPr id="12" name="Rounded Rectangle 11"/>
          <p:cNvSpPr/>
          <p:nvPr/>
        </p:nvSpPr>
        <p:spPr>
          <a:xfrm>
            <a:off x="548640" y="4462272"/>
            <a:ext cx="11064240" cy="84124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572000"/>
            <a:ext cx="10515600" cy="640080"/>
          </a:xfrm>
          <a:prstGeom prst="rect">
            <a:avLst/>
          </a:prstGeom>
          <a:noFill/>
        </p:spPr>
        <p:txBody>
          <a:bodyPr wrap="square" anchor="t">
            <a:spAutoFit/>
          </a:bodyPr>
          <a:lstStyle/>
          <a:p>
            <a:pPr algn="l">
              <a:spcAft>
                <a:spcPts val="200"/>
              </a:spcAft>
            </a:pPr>
            <a:r>
              <a:rPr sz="1800" b="1">
                <a:solidFill>
                  <a:srgbClr val="17233B"/>
                </a:solidFill>
                <a:latin typeface="Calibri"/>
              </a:rPr>
              <a:t>School office par calls ka load</a:t>
            </a:r>
          </a:p>
          <a:p>
            <a:pPr algn="l">
              <a:spcAft>
                <a:spcPts val="200"/>
              </a:spcAft>
            </a:pPr>
            <a:r>
              <a:rPr sz="1400" b="0">
                <a:solidFill>
                  <a:srgbClr val="5A6779"/>
                </a:solidFill>
                <a:latin typeface="Calibri"/>
              </a:rPr>
              <a:t>'Bus kahan hai?' — daily wahi question</a:t>
            </a:r>
          </a:p>
        </p:txBody>
      </p:sp>
      <p:sp>
        <p:nvSpPr>
          <p:cNvPr id="14" name="Rounded Rectangle 13"/>
          <p:cNvSpPr/>
          <p:nvPr/>
        </p:nvSpPr>
        <p:spPr>
          <a:xfrm>
            <a:off x="548640" y="5431536"/>
            <a:ext cx="11064240" cy="84124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41264"/>
            <a:ext cx="10515600" cy="640080"/>
          </a:xfrm>
          <a:prstGeom prst="rect">
            <a:avLst/>
          </a:prstGeom>
          <a:noFill/>
        </p:spPr>
        <p:txBody>
          <a:bodyPr wrap="square" anchor="t">
            <a:spAutoFit/>
          </a:bodyPr>
          <a:lstStyle/>
          <a:p>
            <a:pPr algn="l">
              <a:spcAft>
                <a:spcPts val="200"/>
              </a:spcAft>
            </a:pPr>
            <a:r>
              <a:rPr sz="1800" b="1">
                <a:solidFill>
                  <a:srgbClr val="17233B"/>
                </a:solidFill>
                <a:latin typeface="Calibri"/>
              </a:rPr>
              <a:t>Normal GPS apps children ke liye unsafe hain</a:t>
            </a:r>
          </a:p>
          <a:p>
            <a:pPr algn="l">
              <a:spcAft>
                <a:spcPts val="200"/>
              </a:spcAft>
            </a:pPr>
            <a:r>
              <a:rPr sz="1400" b="0">
                <a:solidFill>
                  <a:srgbClr val="5A6779"/>
                </a:solidFill>
                <a:latin typeface="Calibri"/>
              </a:rPr>
              <a:t>public tracking links = privacy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THE SOLUTION / SAMADHAN</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Ek App — Teen Roles, Sabka Kaam Easy</a:t>
            </a:r>
          </a:p>
        </p:txBody>
      </p:sp>
      <p:sp>
        <p:nvSpPr>
          <p:cNvPr id="6" name="Rounded Rectangle 5"/>
          <p:cNvSpPr/>
          <p:nvPr/>
        </p:nvSpPr>
        <p:spPr>
          <a:xfrm>
            <a:off x="548640" y="1554480"/>
            <a:ext cx="3657600" cy="45720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554480"/>
            <a:ext cx="3657600" cy="594360"/>
          </a:xfrm>
          <a:prstGeom prst="roundRect">
            <a:avLst>
              <a:gd name="adj" fmla="val 8000"/>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36776"/>
            <a:ext cx="3657600" cy="457200"/>
          </a:xfrm>
          <a:prstGeom prst="rect">
            <a:avLst/>
          </a:prstGeom>
          <a:noFill/>
        </p:spPr>
        <p:txBody>
          <a:bodyPr wrap="square" anchor="t">
            <a:spAutoFit/>
          </a:bodyPr>
          <a:lstStyle/>
          <a:p>
            <a:pPr algn="ctr">
              <a:spcAft>
                <a:spcPts val="600"/>
              </a:spcAft>
            </a:pPr>
            <a:r>
              <a:rPr sz="1600" b="1">
                <a:solidFill>
                  <a:srgbClr val="FFFFFF"/>
                </a:solidFill>
                <a:latin typeface="Calibri"/>
              </a:rPr>
              <a:t>STUDENT / PARENT</a:t>
            </a:r>
          </a:p>
        </p:txBody>
      </p:sp>
      <p:sp>
        <p:nvSpPr>
          <p:cNvPr id="9" name="TextBox 8"/>
          <p:cNvSpPr txBox="1"/>
          <p:nvPr/>
        </p:nvSpPr>
        <p:spPr>
          <a:xfrm>
            <a:off x="804672" y="2331720"/>
            <a:ext cx="3246120" cy="685800"/>
          </a:xfrm>
          <a:prstGeom prst="rect">
            <a:avLst/>
          </a:prstGeom>
          <a:noFill/>
        </p:spPr>
        <p:txBody>
          <a:bodyPr wrap="square" anchor="t">
            <a:spAutoFit/>
          </a:bodyPr>
          <a:lstStyle/>
          <a:p>
            <a:pPr algn="l">
              <a:spcAft>
                <a:spcPts val="600"/>
              </a:spcAft>
            </a:pPr>
            <a:r>
              <a:rPr sz="1350" b="1">
                <a:solidFill>
                  <a:srgbClr val="2557D6"/>
                </a:solidFill>
                <a:latin typeface="Calibri"/>
              </a:rPr>
              <a:t>✓  </a:t>
            </a:r>
            <a:r>
              <a:rPr sz="1350" b="0">
                <a:solidFill>
                  <a:srgbClr val="17233B"/>
                </a:solidFill>
                <a:latin typeface="Calibri"/>
              </a:rPr>
              <a:t>Apni bus LIVE map par dekho</a:t>
            </a:r>
          </a:p>
        </p:txBody>
      </p:sp>
      <p:sp>
        <p:nvSpPr>
          <p:cNvPr id="10" name="TextBox 9"/>
          <p:cNvSpPr txBox="1"/>
          <p:nvPr/>
        </p:nvSpPr>
        <p:spPr>
          <a:xfrm>
            <a:off x="804672" y="3063240"/>
            <a:ext cx="3246120" cy="685800"/>
          </a:xfrm>
          <a:prstGeom prst="rect">
            <a:avLst/>
          </a:prstGeom>
          <a:noFill/>
        </p:spPr>
        <p:txBody>
          <a:bodyPr wrap="square" anchor="t">
            <a:spAutoFit/>
          </a:bodyPr>
          <a:lstStyle/>
          <a:p>
            <a:pPr algn="l">
              <a:spcAft>
                <a:spcPts val="600"/>
              </a:spcAft>
            </a:pPr>
            <a:r>
              <a:rPr sz="1350" b="1">
                <a:solidFill>
                  <a:srgbClr val="2557D6"/>
                </a:solidFill>
                <a:latin typeface="Calibri"/>
              </a:rPr>
              <a:t>✓  </a:t>
            </a:r>
            <a:r>
              <a:rPr sz="1350" b="0">
                <a:solidFill>
                  <a:srgbClr val="17233B"/>
                </a:solidFill>
                <a:latin typeface="Calibri"/>
              </a:rPr>
              <a:t>Class + Roll number se login — email nahi chahiye!</a:t>
            </a:r>
          </a:p>
        </p:txBody>
      </p:sp>
      <p:sp>
        <p:nvSpPr>
          <p:cNvPr id="11" name="TextBox 10"/>
          <p:cNvSpPr txBox="1"/>
          <p:nvPr/>
        </p:nvSpPr>
        <p:spPr>
          <a:xfrm>
            <a:off x="804672" y="3794760"/>
            <a:ext cx="3246120" cy="685800"/>
          </a:xfrm>
          <a:prstGeom prst="rect">
            <a:avLst/>
          </a:prstGeom>
          <a:noFill/>
        </p:spPr>
        <p:txBody>
          <a:bodyPr wrap="square" anchor="t">
            <a:spAutoFit/>
          </a:bodyPr>
          <a:lstStyle/>
          <a:p>
            <a:pPr algn="l">
              <a:spcAft>
                <a:spcPts val="600"/>
              </a:spcAft>
            </a:pPr>
            <a:r>
              <a:rPr sz="1350" b="1">
                <a:solidFill>
                  <a:srgbClr val="2557D6"/>
                </a:solidFill>
                <a:latin typeface="Calibri"/>
              </a:rPr>
              <a:t>✓  </a:t>
            </a:r>
            <a:r>
              <a:rPr sz="1350" b="0">
                <a:solidFill>
                  <a:srgbClr val="17233B"/>
                </a:solidFill>
                <a:latin typeface="Calibri"/>
              </a:rPr>
              <a:t>Route, stops, apna stop ⭐</a:t>
            </a:r>
          </a:p>
        </p:txBody>
      </p:sp>
      <p:sp>
        <p:nvSpPr>
          <p:cNvPr id="12" name="TextBox 11"/>
          <p:cNvSpPr txBox="1"/>
          <p:nvPr/>
        </p:nvSpPr>
        <p:spPr>
          <a:xfrm>
            <a:off x="804672" y="4526280"/>
            <a:ext cx="3246120" cy="685800"/>
          </a:xfrm>
          <a:prstGeom prst="rect">
            <a:avLst/>
          </a:prstGeom>
          <a:noFill/>
        </p:spPr>
        <p:txBody>
          <a:bodyPr wrap="square" anchor="t">
            <a:spAutoFit/>
          </a:bodyPr>
          <a:lstStyle/>
          <a:p>
            <a:pPr algn="l">
              <a:spcAft>
                <a:spcPts val="600"/>
              </a:spcAft>
            </a:pPr>
            <a:r>
              <a:rPr sz="1350" b="1">
                <a:solidFill>
                  <a:srgbClr val="2557D6"/>
                </a:solidFill>
                <a:latin typeface="Calibri"/>
              </a:rPr>
              <a:t>✓  </a:t>
            </a:r>
            <a:r>
              <a:rPr sz="1350" b="0">
                <a:solidFill>
                  <a:srgbClr val="17233B"/>
                </a:solidFill>
                <a:latin typeface="Calibri"/>
              </a:rPr>
              <a:t>'~8 min mein aa rahi hai' — ETA</a:t>
            </a:r>
          </a:p>
        </p:txBody>
      </p:sp>
      <p:sp>
        <p:nvSpPr>
          <p:cNvPr id="13" name="TextBox 12"/>
          <p:cNvSpPr txBox="1"/>
          <p:nvPr/>
        </p:nvSpPr>
        <p:spPr>
          <a:xfrm>
            <a:off x="804672" y="5257800"/>
            <a:ext cx="3246120" cy="685800"/>
          </a:xfrm>
          <a:prstGeom prst="rect">
            <a:avLst/>
          </a:prstGeom>
          <a:noFill/>
        </p:spPr>
        <p:txBody>
          <a:bodyPr wrap="square" anchor="t">
            <a:spAutoFit/>
          </a:bodyPr>
          <a:lstStyle/>
          <a:p>
            <a:pPr algn="l">
              <a:spcAft>
                <a:spcPts val="600"/>
              </a:spcAft>
            </a:pPr>
            <a:r>
              <a:rPr sz="1350" b="1">
                <a:solidFill>
                  <a:srgbClr val="2557D6"/>
                </a:solidFill>
                <a:latin typeface="Calibri"/>
              </a:rPr>
              <a:t>✓  </a:t>
            </a:r>
            <a:r>
              <a:rPr sz="1350" b="0">
                <a:solidFill>
                  <a:srgbClr val="17233B"/>
                </a:solidFill>
                <a:latin typeface="Calibri"/>
              </a:rPr>
              <a:t>Bus approaching alerts</a:t>
            </a:r>
          </a:p>
        </p:txBody>
      </p:sp>
      <p:sp>
        <p:nvSpPr>
          <p:cNvPr id="14" name="Rounded Rectangle 13"/>
          <p:cNvSpPr/>
          <p:nvPr/>
        </p:nvSpPr>
        <p:spPr>
          <a:xfrm>
            <a:off x="4434840" y="1554480"/>
            <a:ext cx="3657600" cy="45720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34840" y="1554480"/>
            <a:ext cx="3657600" cy="594360"/>
          </a:xfrm>
          <a:prstGeom prst="roundRect">
            <a:avLst>
              <a:gd name="adj" fmla="val 8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636776"/>
            <a:ext cx="3657600" cy="457200"/>
          </a:xfrm>
          <a:prstGeom prst="rect">
            <a:avLst/>
          </a:prstGeom>
          <a:noFill/>
        </p:spPr>
        <p:txBody>
          <a:bodyPr wrap="square" anchor="t">
            <a:spAutoFit/>
          </a:bodyPr>
          <a:lstStyle/>
          <a:p>
            <a:pPr algn="ctr">
              <a:spcAft>
                <a:spcPts val="600"/>
              </a:spcAft>
            </a:pPr>
            <a:r>
              <a:rPr sz="1600" b="1">
                <a:solidFill>
                  <a:srgbClr val="FFFFFF"/>
                </a:solidFill>
                <a:latin typeface="Calibri"/>
              </a:rPr>
              <a:t>DRIVER</a:t>
            </a:r>
          </a:p>
        </p:txBody>
      </p:sp>
      <p:sp>
        <p:nvSpPr>
          <p:cNvPr id="17" name="TextBox 16"/>
          <p:cNvSpPr txBox="1"/>
          <p:nvPr/>
        </p:nvSpPr>
        <p:spPr>
          <a:xfrm>
            <a:off x="4690872" y="2331720"/>
            <a:ext cx="3246120" cy="685800"/>
          </a:xfrm>
          <a:prstGeom prst="rect">
            <a:avLst/>
          </a:prstGeom>
          <a:noFill/>
        </p:spPr>
        <p:txBody>
          <a:bodyPr wrap="square" anchor="t">
            <a:spAutoFit/>
          </a:bodyPr>
          <a:lstStyle/>
          <a:p>
            <a:pPr algn="l">
              <a:spcAft>
                <a:spcPts val="600"/>
              </a:spcAft>
            </a:pPr>
            <a:r>
              <a:rPr sz="1350" b="1">
                <a:solidFill>
                  <a:srgbClr val="1E8E3E"/>
                </a:solidFill>
                <a:latin typeface="Calibri"/>
              </a:rPr>
              <a:t>✓  </a:t>
            </a:r>
            <a:r>
              <a:rPr sz="1350" b="0">
                <a:solidFill>
                  <a:srgbClr val="17233B"/>
                </a:solidFill>
                <a:latin typeface="Calibri"/>
              </a:rPr>
              <a:t>Sirf ek button: START TRIP</a:t>
            </a:r>
          </a:p>
        </p:txBody>
      </p:sp>
      <p:sp>
        <p:nvSpPr>
          <p:cNvPr id="18" name="TextBox 17"/>
          <p:cNvSpPr txBox="1"/>
          <p:nvPr/>
        </p:nvSpPr>
        <p:spPr>
          <a:xfrm>
            <a:off x="4690872" y="3063240"/>
            <a:ext cx="3246120" cy="685800"/>
          </a:xfrm>
          <a:prstGeom prst="rect">
            <a:avLst/>
          </a:prstGeom>
          <a:noFill/>
        </p:spPr>
        <p:txBody>
          <a:bodyPr wrap="square" anchor="t">
            <a:spAutoFit/>
          </a:bodyPr>
          <a:lstStyle/>
          <a:p>
            <a:pPr algn="l">
              <a:spcAft>
                <a:spcPts val="600"/>
              </a:spcAft>
            </a:pPr>
            <a:r>
              <a:rPr sz="1350" b="1">
                <a:solidFill>
                  <a:srgbClr val="1E8E3E"/>
                </a:solidFill>
                <a:latin typeface="Calibri"/>
              </a:rPr>
              <a:t>✓  </a:t>
            </a:r>
            <a:r>
              <a:rPr sz="1350" b="0">
                <a:solidFill>
                  <a:srgbClr val="17233B"/>
                </a:solidFill>
                <a:latin typeface="Calibri"/>
              </a:rPr>
              <a:t>GPS automatic share hota hai</a:t>
            </a:r>
          </a:p>
        </p:txBody>
      </p:sp>
      <p:sp>
        <p:nvSpPr>
          <p:cNvPr id="19" name="TextBox 18"/>
          <p:cNvSpPr txBox="1"/>
          <p:nvPr/>
        </p:nvSpPr>
        <p:spPr>
          <a:xfrm>
            <a:off x="4690872" y="3794760"/>
            <a:ext cx="3246120" cy="685800"/>
          </a:xfrm>
          <a:prstGeom prst="rect">
            <a:avLst/>
          </a:prstGeom>
          <a:noFill/>
        </p:spPr>
        <p:txBody>
          <a:bodyPr wrap="square" anchor="t">
            <a:spAutoFit/>
          </a:bodyPr>
          <a:lstStyle/>
          <a:p>
            <a:pPr algn="l">
              <a:spcAft>
                <a:spcPts val="600"/>
              </a:spcAft>
            </a:pPr>
            <a:r>
              <a:rPr sz="1350" b="1">
                <a:solidFill>
                  <a:srgbClr val="1E8E3E"/>
                </a:solidFill>
                <a:latin typeface="Calibri"/>
              </a:rPr>
              <a:t>✓  </a:t>
            </a:r>
            <a:r>
              <a:rPr sz="1350" b="0">
                <a:solidFill>
                  <a:srgbClr val="17233B"/>
                </a:solidFill>
                <a:latin typeface="Calibri"/>
              </a:rPr>
              <a:t>Driving ke time kuch touch nahi karna</a:t>
            </a:r>
          </a:p>
        </p:txBody>
      </p:sp>
      <p:sp>
        <p:nvSpPr>
          <p:cNvPr id="20" name="TextBox 19"/>
          <p:cNvSpPr txBox="1"/>
          <p:nvPr/>
        </p:nvSpPr>
        <p:spPr>
          <a:xfrm>
            <a:off x="4690872" y="4526280"/>
            <a:ext cx="3246120" cy="685800"/>
          </a:xfrm>
          <a:prstGeom prst="rect">
            <a:avLst/>
          </a:prstGeom>
          <a:noFill/>
        </p:spPr>
        <p:txBody>
          <a:bodyPr wrap="square" anchor="t">
            <a:spAutoFit/>
          </a:bodyPr>
          <a:lstStyle/>
          <a:p>
            <a:pPr algn="l">
              <a:spcAft>
                <a:spcPts val="600"/>
              </a:spcAft>
            </a:pPr>
            <a:r>
              <a:rPr sz="1350" b="1">
                <a:solidFill>
                  <a:srgbClr val="1E8E3E"/>
                </a:solidFill>
                <a:latin typeface="Calibri"/>
              </a:rPr>
              <a:t>✓  </a:t>
            </a:r>
            <a:r>
              <a:rPr sz="1350" b="0">
                <a:solidFill>
                  <a:srgbClr val="17233B"/>
                </a:solidFill>
                <a:latin typeface="Calibri"/>
              </a:rPr>
              <a:t>Screen band ho toh bhi chalta hai</a:t>
            </a:r>
          </a:p>
        </p:txBody>
      </p:sp>
      <p:sp>
        <p:nvSpPr>
          <p:cNvPr id="21" name="TextBox 20"/>
          <p:cNvSpPr txBox="1"/>
          <p:nvPr/>
        </p:nvSpPr>
        <p:spPr>
          <a:xfrm>
            <a:off x="4690872" y="5257800"/>
            <a:ext cx="3246120" cy="685800"/>
          </a:xfrm>
          <a:prstGeom prst="rect">
            <a:avLst/>
          </a:prstGeom>
          <a:noFill/>
        </p:spPr>
        <p:txBody>
          <a:bodyPr wrap="square" anchor="t">
            <a:spAutoFit/>
          </a:bodyPr>
          <a:lstStyle/>
          <a:p>
            <a:pPr algn="l">
              <a:spcAft>
                <a:spcPts val="600"/>
              </a:spcAft>
            </a:pPr>
            <a:r>
              <a:rPr sz="1350" b="1">
                <a:solidFill>
                  <a:srgbClr val="1E8E3E"/>
                </a:solidFill>
                <a:latin typeface="Calibri"/>
              </a:rPr>
              <a:t>✓  </a:t>
            </a:r>
            <a:r>
              <a:rPr sz="1350" b="0">
                <a:solidFill>
                  <a:srgbClr val="17233B"/>
                </a:solidFill>
                <a:latin typeface="Calibri"/>
              </a:rPr>
              <a:t>END TRIP — tracking band</a:t>
            </a:r>
          </a:p>
        </p:txBody>
      </p:sp>
      <p:sp>
        <p:nvSpPr>
          <p:cNvPr id="22" name="Rounded Rectangle 21"/>
          <p:cNvSpPr/>
          <p:nvPr/>
        </p:nvSpPr>
        <p:spPr>
          <a:xfrm>
            <a:off x="8321040" y="1554480"/>
            <a:ext cx="3657600" cy="45720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21040" y="1554480"/>
            <a:ext cx="3657600" cy="594360"/>
          </a:xfrm>
          <a:prstGeom prst="roundRect">
            <a:avLst>
              <a:gd name="adj" fmla="val 8000"/>
            </a:avLst>
          </a:prstGeom>
          <a:solidFill>
            <a:srgbClr val="8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636776"/>
            <a:ext cx="3657600" cy="457200"/>
          </a:xfrm>
          <a:prstGeom prst="rect">
            <a:avLst/>
          </a:prstGeom>
          <a:noFill/>
        </p:spPr>
        <p:txBody>
          <a:bodyPr wrap="square" anchor="t">
            <a:spAutoFit/>
          </a:bodyPr>
          <a:lstStyle/>
          <a:p>
            <a:pPr algn="ctr">
              <a:spcAft>
                <a:spcPts val="600"/>
              </a:spcAft>
            </a:pPr>
            <a:r>
              <a:rPr sz="1600" b="1">
                <a:solidFill>
                  <a:srgbClr val="FFFFFF"/>
                </a:solidFill>
                <a:latin typeface="Calibri"/>
              </a:rPr>
              <a:t>SCHOOL ADMIN</a:t>
            </a:r>
          </a:p>
        </p:txBody>
      </p:sp>
      <p:sp>
        <p:nvSpPr>
          <p:cNvPr id="25" name="TextBox 24"/>
          <p:cNvSpPr txBox="1"/>
          <p:nvPr/>
        </p:nvSpPr>
        <p:spPr>
          <a:xfrm>
            <a:off x="8577072" y="2331720"/>
            <a:ext cx="3246120" cy="685800"/>
          </a:xfrm>
          <a:prstGeom prst="rect">
            <a:avLst/>
          </a:prstGeom>
          <a:noFill/>
        </p:spPr>
        <p:txBody>
          <a:bodyPr wrap="square" anchor="t">
            <a:spAutoFit/>
          </a:bodyPr>
          <a:lstStyle/>
          <a:p>
            <a:pPr algn="l">
              <a:spcAft>
                <a:spcPts val="600"/>
              </a:spcAft>
            </a:pPr>
            <a:r>
              <a:rPr sz="1350" b="1">
                <a:solidFill>
                  <a:srgbClr val="8A5B00"/>
                </a:solidFill>
                <a:latin typeface="Calibri"/>
              </a:rPr>
              <a:t>✓  </a:t>
            </a:r>
            <a:r>
              <a:rPr sz="1350" b="0">
                <a:solidFill>
                  <a:srgbClr val="17233B"/>
                </a:solidFill>
                <a:latin typeface="Calibri"/>
              </a:rPr>
              <a:t>Buses, routes, stops manage karo</a:t>
            </a:r>
          </a:p>
        </p:txBody>
      </p:sp>
      <p:sp>
        <p:nvSpPr>
          <p:cNvPr id="26" name="TextBox 25"/>
          <p:cNvSpPr txBox="1"/>
          <p:nvPr/>
        </p:nvSpPr>
        <p:spPr>
          <a:xfrm>
            <a:off x="8577072" y="3063240"/>
            <a:ext cx="3246120" cy="685800"/>
          </a:xfrm>
          <a:prstGeom prst="rect">
            <a:avLst/>
          </a:prstGeom>
          <a:noFill/>
        </p:spPr>
        <p:txBody>
          <a:bodyPr wrap="square" anchor="t">
            <a:spAutoFit/>
          </a:bodyPr>
          <a:lstStyle/>
          <a:p>
            <a:pPr algn="l">
              <a:spcAft>
                <a:spcPts val="600"/>
              </a:spcAft>
            </a:pPr>
            <a:r>
              <a:rPr sz="1350" b="1">
                <a:solidFill>
                  <a:srgbClr val="8A5B00"/>
                </a:solidFill>
                <a:latin typeface="Calibri"/>
              </a:rPr>
              <a:t>✓  </a:t>
            </a:r>
            <a:r>
              <a:rPr sz="1350" b="0">
                <a:solidFill>
                  <a:srgbClr val="17233B"/>
                </a:solidFill>
                <a:latin typeface="Calibri"/>
              </a:rPr>
              <a:t>Students class-wise add/edit karo</a:t>
            </a:r>
          </a:p>
        </p:txBody>
      </p:sp>
      <p:sp>
        <p:nvSpPr>
          <p:cNvPr id="27" name="TextBox 26"/>
          <p:cNvSpPr txBox="1"/>
          <p:nvPr/>
        </p:nvSpPr>
        <p:spPr>
          <a:xfrm>
            <a:off x="8577072" y="3794760"/>
            <a:ext cx="3246120" cy="685800"/>
          </a:xfrm>
          <a:prstGeom prst="rect">
            <a:avLst/>
          </a:prstGeom>
          <a:noFill/>
        </p:spPr>
        <p:txBody>
          <a:bodyPr wrap="square" anchor="t">
            <a:spAutoFit/>
          </a:bodyPr>
          <a:lstStyle/>
          <a:p>
            <a:pPr algn="l">
              <a:spcAft>
                <a:spcPts val="600"/>
              </a:spcAft>
            </a:pPr>
            <a:r>
              <a:rPr sz="1350" b="1">
                <a:solidFill>
                  <a:srgbClr val="8A5B00"/>
                </a:solidFill>
                <a:latin typeface="Calibri"/>
              </a:rPr>
              <a:t>✓  </a:t>
            </a:r>
            <a:r>
              <a:rPr sz="1350" b="0">
                <a:solidFill>
                  <a:srgbClr val="17233B"/>
                </a:solidFill>
                <a:latin typeface="Calibri"/>
              </a:rPr>
              <a:t>Saari buses ek map par LIVE</a:t>
            </a:r>
          </a:p>
        </p:txBody>
      </p:sp>
      <p:sp>
        <p:nvSpPr>
          <p:cNvPr id="28" name="TextBox 27"/>
          <p:cNvSpPr txBox="1"/>
          <p:nvPr/>
        </p:nvSpPr>
        <p:spPr>
          <a:xfrm>
            <a:off x="8577072" y="4526280"/>
            <a:ext cx="3246120" cy="685800"/>
          </a:xfrm>
          <a:prstGeom prst="rect">
            <a:avLst/>
          </a:prstGeom>
          <a:noFill/>
        </p:spPr>
        <p:txBody>
          <a:bodyPr wrap="square" anchor="t">
            <a:spAutoFit/>
          </a:bodyPr>
          <a:lstStyle/>
          <a:p>
            <a:pPr algn="l">
              <a:spcAft>
                <a:spcPts val="600"/>
              </a:spcAft>
            </a:pPr>
            <a:r>
              <a:rPr sz="1350" b="1">
                <a:solidFill>
                  <a:srgbClr val="8A5B00"/>
                </a:solidFill>
                <a:latin typeface="Calibri"/>
              </a:rPr>
              <a:t>✓  </a:t>
            </a:r>
            <a:r>
              <a:rPr sz="1350" b="0">
                <a:solidFill>
                  <a:srgbClr val="17233B"/>
                </a:solidFill>
                <a:latin typeface="Calibri"/>
              </a:rPr>
              <a:t>Kaun logged in hai — sab dikhega</a:t>
            </a:r>
          </a:p>
        </p:txBody>
      </p:sp>
      <p:sp>
        <p:nvSpPr>
          <p:cNvPr id="29" name="TextBox 28"/>
          <p:cNvSpPr txBox="1"/>
          <p:nvPr/>
        </p:nvSpPr>
        <p:spPr>
          <a:xfrm>
            <a:off x="8577072" y="5257800"/>
            <a:ext cx="3246120" cy="685800"/>
          </a:xfrm>
          <a:prstGeom prst="rect">
            <a:avLst/>
          </a:prstGeom>
          <a:noFill/>
        </p:spPr>
        <p:txBody>
          <a:bodyPr wrap="square" anchor="t">
            <a:spAutoFit/>
          </a:bodyPr>
          <a:lstStyle/>
          <a:p>
            <a:pPr algn="l">
              <a:spcAft>
                <a:spcPts val="600"/>
              </a:spcAft>
            </a:pPr>
            <a:r>
              <a:rPr sz="1350" b="1">
                <a:solidFill>
                  <a:srgbClr val="8A5B00"/>
                </a:solidFill>
                <a:latin typeface="Calibri"/>
              </a:rPr>
              <a:t>✓  </a:t>
            </a:r>
            <a:r>
              <a:rPr sz="1350" b="0">
                <a:solidFill>
                  <a:srgbClr val="17233B"/>
                </a:solidFill>
                <a:latin typeface="Calibri"/>
              </a:rPr>
              <a:t>Force logout + password reset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STUDENT EXPERIENCE</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Bachchon Ke Liye — Simple, Friendly, Safe</a:t>
            </a:r>
          </a:p>
        </p:txBody>
      </p:sp>
      <p:pic>
        <p:nvPicPr>
          <p:cNvPr id="6" name="Picture 5" descr="student_home.png"/>
          <p:cNvPicPr>
            <a:picLocks noChangeAspect="1"/>
          </p:cNvPicPr>
          <p:nvPr/>
        </p:nvPicPr>
        <p:blipFill>
          <a:blip r:embed="rId2"/>
          <a:stretch>
            <a:fillRect/>
          </a:stretch>
        </p:blipFill>
        <p:spPr>
          <a:xfrm>
            <a:off x="914400" y="1417320"/>
            <a:ext cx="2461846" cy="5120640"/>
          </a:xfrm>
          <a:prstGeom prst="rect">
            <a:avLst/>
          </a:prstGeom>
        </p:spPr>
      </p:pic>
      <p:pic>
        <p:nvPicPr>
          <p:cNvPr id="7" name="Picture 6" descr="student_map.png"/>
          <p:cNvPicPr>
            <a:picLocks noChangeAspect="1"/>
          </p:cNvPicPr>
          <p:nvPr/>
        </p:nvPicPr>
        <p:blipFill>
          <a:blip r:embed="rId3"/>
          <a:stretch>
            <a:fillRect/>
          </a:stretch>
        </p:blipFill>
        <p:spPr>
          <a:xfrm>
            <a:off x="3931920" y="1417320"/>
            <a:ext cx="2461846" cy="5120640"/>
          </a:xfrm>
          <a:prstGeom prst="rect">
            <a:avLst/>
          </a:prstGeom>
        </p:spPr>
      </p:pic>
      <p:sp>
        <p:nvSpPr>
          <p:cNvPr id="8" name="TextBox 7"/>
          <p:cNvSpPr txBox="1"/>
          <p:nvPr/>
        </p:nvSpPr>
        <p:spPr>
          <a:xfrm>
            <a:off x="7132320" y="1645920"/>
            <a:ext cx="4663440" cy="4846320"/>
          </a:xfrm>
          <a:prstGeom prst="rect">
            <a:avLst/>
          </a:prstGeom>
          <a:noFill/>
        </p:spPr>
        <p:txBody>
          <a:bodyPr wrap="square">
            <a:spAutoFit/>
          </a:bodyPr>
          <a:lstStyle/>
          <a:p>
            <a:pPr>
              <a:spcAft>
                <a:spcPts val="1100"/>
              </a:spcAft>
            </a:pPr>
            <a:r>
              <a:rPr sz="1400" b="1">
                <a:solidFill>
                  <a:srgbClr val="17233B"/>
                </a:solidFill>
                <a:latin typeface="Calibri"/>
              </a:rPr>
              <a:t>•  Login super easy</a:t>
            </a:r>
            <a:r>
              <a:rPr sz="1400" b="0">
                <a:solidFill>
                  <a:srgbClr val="5A6779"/>
                </a:solidFill>
                <a:latin typeface="Calibri"/>
              </a:rPr>
              <a:t> — Class dropdown + Section + Roll number + password — bas!</a:t>
            </a:r>
          </a:p>
          <a:p>
            <a:pPr>
              <a:spcAft>
                <a:spcPts val="1100"/>
              </a:spcAft>
            </a:pPr>
            <a:r>
              <a:rPr sz="1400" b="1">
                <a:solidFill>
                  <a:srgbClr val="17233B"/>
                </a:solidFill>
                <a:latin typeface="Calibri"/>
              </a:rPr>
              <a:t>•  Home screen</a:t>
            </a:r>
            <a:r>
              <a:rPr sz="1400" b="0">
                <a:solidFill>
                  <a:srgbClr val="5A6779"/>
                </a:solidFill>
                <a:latin typeface="Calibri"/>
              </a:rPr>
              <a:t> — greeting, apni bus card, ON TRIP status, bada 'Track My Bus' button</a:t>
            </a:r>
          </a:p>
          <a:p>
            <a:pPr>
              <a:spcAft>
                <a:spcPts val="1100"/>
              </a:spcAft>
            </a:pPr>
            <a:r>
              <a:rPr sz="1400" b="1">
                <a:solidFill>
                  <a:srgbClr val="17233B"/>
                </a:solidFill>
                <a:latin typeface="Calibri"/>
              </a:rPr>
              <a:t>•  Live Map 🚌</a:t>
            </a:r>
            <a:r>
              <a:rPr sz="1400" b="0">
                <a:solidFill>
                  <a:srgbClr val="5A6779"/>
                </a:solidFill>
                <a:latin typeface="Calibri"/>
              </a:rPr>
              <a:t> — school-bus marker, route line, saare stops, apna stop star ke saath</a:t>
            </a:r>
          </a:p>
          <a:p>
            <a:pPr>
              <a:spcAft>
                <a:spcPts val="1100"/>
              </a:spcAft>
            </a:pPr>
            <a:r>
              <a:rPr sz="1400" b="1">
                <a:solidFill>
                  <a:srgbClr val="17233B"/>
                </a:solidFill>
                <a:latin typeface="Calibri"/>
              </a:rPr>
              <a:t>•  Honest ETA</a:t>
            </a:r>
            <a:r>
              <a:rPr sz="1400" b="0">
                <a:solidFill>
                  <a:srgbClr val="5A6779"/>
                </a:solidFill>
                <a:latin typeface="Calibri"/>
              </a:rPr>
              <a:t> — 'approximately 8 min' — app kabhi jhootha promise nahi karti</a:t>
            </a:r>
          </a:p>
          <a:p>
            <a:pPr>
              <a:spcAft>
                <a:spcPts val="1100"/>
              </a:spcAft>
            </a:pPr>
            <a:r>
              <a:rPr sz="1400" b="1">
                <a:solidFill>
                  <a:srgbClr val="17233B"/>
                </a:solidFill>
                <a:latin typeface="Calibri"/>
              </a:rPr>
              <a:t>•  Signal chala jaye toh?</a:t>
            </a:r>
            <a:r>
              <a:rPr sz="1400" b="0">
                <a:solidFill>
                  <a:srgbClr val="5A6779"/>
                </a:solidFill>
                <a:latin typeface="Calibri"/>
              </a:rPr>
              <a:t> — 'Last updated 2 min ago' dikhata hai — purani location ko LIVE nahi bolta</a:t>
            </a:r>
          </a:p>
          <a:p>
            <a:pPr>
              <a:spcAft>
                <a:spcPts val="1100"/>
              </a:spcAft>
            </a:pPr>
            <a:r>
              <a:rPr sz="1400" b="1">
                <a:solidFill>
                  <a:srgbClr val="17233B"/>
                </a:solidFill>
                <a:latin typeface="Calibri"/>
              </a:rPr>
              <a:t>•  Alerts</a:t>
            </a:r>
            <a:r>
              <a:rPr sz="1400" b="0">
                <a:solidFill>
                  <a:srgbClr val="5A6779"/>
                </a:solidFill>
                <a:latin typeface="Calibri"/>
              </a:rPr>
              <a:t> — trip started, bus approaching, bus reached stop — automatic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DRIVER &amp; ADMIN</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Driver: 1 Button · Admin: Full Control</a:t>
            </a:r>
          </a:p>
        </p:txBody>
      </p:sp>
      <p:pic>
        <p:nvPicPr>
          <p:cNvPr id="6" name="Picture 5" descr="driver_home.png"/>
          <p:cNvPicPr>
            <a:picLocks noChangeAspect="1"/>
          </p:cNvPicPr>
          <p:nvPr/>
        </p:nvPicPr>
        <p:blipFill>
          <a:blip r:embed="rId2"/>
          <a:stretch>
            <a:fillRect/>
          </a:stretch>
        </p:blipFill>
        <p:spPr>
          <a:xfrm>
            <a:off x="822960" y="1417320"/>
            <a:ext cx="2461846" cy="5120640"/>
          </a:xfrm>
          <a:prstGeom prst="rect">
            <a:avLst/>
          </a:prstGeom>
        </p:spPr>
      </p:pic>
      <p:pic>
        <p:nvPicPr>
          <p:cNvPr id="7" name="Picture 6" descr="admin_dashboard.png"/>
          <p:cNvPicPr>
            <a:picLocks noChangeAspect="1"/>
          </p:cNvPicPr>
          <p:nvPr/>
        </p:nvPicPr>
        <p:blipFill>
          <a:blip r:embed="rId3"/>
          <a:stretch>
            <a:fillRect/>
          </a:stretch>
        </p:blipFill>
        <p:spPr>
          <a:xfrm>
            <a:off x="3840480" y="1417320"/>
            <a:ext cx="2461846" cy="5120640"/>
          </a:xfrm>
          <a:prstGeom prst="rect">
            <a:avLst/>
          </a:prstGeom>
        </p:spPr>
      </p:pic>
      <p:sp>
        <p:nvSpPr>
          <p:cNvPr id="8" name="TextBox 7"/>
          <p:cNvSpPr txBox="1"/>
          <p:nvPr/>
        </p:nvSpPr>
        <p:spPr>
          <a:xfrm>
            <a:off x="7040880" y="1645920"/>
            <a:ext cx="4754880" cy="4846320"/>
          </a:xfrm>
          <a:prstGeom prst="rect">
            <a:avLst/>
          </a:prstGeom>
          <a:noFill/>
        </p:spPr>
        <p:txBody>
          <a:bodyPr wrap="square">
            <a:spAutoFit/>
          </a:bodyPr>
          <a:lstStyle/>
          <a:p>
            <a:pPr>
              <a:spcAft>
                <a:spcPts val="1100"/>
              </a:spcAft>
            </a:pPr>
            <a:r>
              <a:rPr sz="1400" b="1">
                <a:solidFill>
                  <a:srgbClr val="17233B"/>
                </a:solidFill>
                <a:latin typeface="Calibri"/>
              </a:rPr>
              <a:t>•  Driver: START TRIP dabao, done</a:t>
            </a:r>
            <a:r>
              <a:rPr sz="1400" b="0">
                <a:solidFill>
                  <a:srgbClr val="5A6779"/>
                </a:solidFill>
                <a:latin typeface="Calibri"/>
              </a:rPr>
              <a:t> — GPS apne aap share hota hai — screen off ho toh bhi</a:t>
            </a:r>
          </a:p>
          <a:p>
            <a:pPr>
              <a:spcAft>
                <a:spcPts val="1100"/>
              </a:spcAft>
            </a:pPr>
            <a:r>
              <a:rPr sz="1400" b="1">
                <a:solidFill>
                  <a:srgbClr val="17233B"/>
                </a:solidFill>
                <a:latin typeface="Calibri"/>
              </a:rPr>
              <a:t>•  Zero distraction while driving</a:t>
            </a:r>
            <a:r>
              <a:rPr sz="1400" b="0">
                <a:solidFill>
                  <a:srgbClr val="5A6779"/>
                </a:solidFill>
                <a:latin typeface="Calibri"/>
              </a:rPr>
              <a:t> — safety first — koi interaction ki zaroorat nahi</a:t>
            </a:r>
          </a:p>
          <a:p>
            <a:pPr>
              <a:spcAft>
                <a:spcPts val="1100"/>
              </a:spcAft>
            </a:pPr>
            <a:r>
              <a:rPr sz="1400" b="1">
                <a:solidFill>
                  <a:srgbClr val="17233B"/>
                </a:solidFill>
                <a:latin typeface="Calibri"/>
              </a:rPr>
              <a:t>•  Admin Dashboard</a:t>
            </a:r>
            <a:r>
              <a:rPr sz="1400" b="0">
                <a:solidFill>
                  <a:srgbClr val="5A6779"/>
                </a:solidFill>
                <a:latin typeface="Calibri"/>
              </a:rPr>
              <a:t> — buses, active trips, students, drivers — sab ek nazar mein</a:t>
            </a:r>
          </a:p>
          <a:p>
            <a:pPr>
              <a:spcAft>
                <a:spcPts val="1100"/>
              </a:spcAft>
            </a:pPr>
            <a:r>
              <a:rPr sz="1400" b="1">
                <a:solidFill>
                  <a:srgbClr val="17233B"/>
                </a:solidFill>
                <a:latin typeface="Calibri"/>
              </a:rPr>
              <a:t>•  Class-wise students</a:t>
            </a:r>
            <a:r>
              <a:rPr sz="1400" b="0">
                <a:solidFill>
                  <a:srgbClr val="5A6779"/>
                </a:solidFill>
                <a:latin typeface="Calibri"/>
              </a:rPr>
              <a:t> — Class 7-B ke sab bachche ek tap mein filter</a:t>
            </a:r>
          </a:p>
          <a:p>
            <a:pPr>
              <a:spcAft>
                <a:spcPts val="1100"/>
              </a:spcAft>
            </a:pPr>
            <a:r>
              <a:rPr sz="1400" b="1">
                <a:solidFill>
                  <a:srgbClr val="17233B"/>
                </a:solidFill>
                <a:latin typeface="Calibri"/>
              </a:rPr>
              <a:t>•  Trip History</a:t>
            </a:r>
            <a:r>
              <a:rPr sz="1400" b="0">
                <a:solidFill>
                  <a:srgbClr val="5A6779"/>
                </a:solidFill>
                <a:latin typeface="Calibri"/>
              </a:rPr>
              <a:t> — kaunsi bus kab chali, kitni der — poora record</a:t>
            </a:r>
          </a:p>
          <a:p>
            <a:pPr>
              <a:spcAft>
                <a:spcPts val="1100"/>
              </a:spcAft>
            </a:pPr>
            <a:r>
              <a:rPr sz="1400" b="1">
                <a:solidFill>
                  <a:srgbClr val="17233B"/>
                </a:solidFill>
                <a:latin typeface="Calibri"/>
              </a:rPr>
              <a:t>•  Activity logs</a:t>
            </a:r>
            <a:r>
              <a:rPr sz="1400" b="0">
                <a:solidFill>
                  <a:srgbClr val="5A6779"/>
                </a:solidFill>
                <a:latin typeface="Calibri"/>
              </a:rPr>
              <a:t> — kaun kya kab kiya — sab recorded, koi mita nahi sakta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SECURITY &amp; PRIVACY</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Bachchon Ki Safety = #1 Priority 🔐</a:t>
            </a:r>
          </a:p>
        </p:txBody>
      </p:sp>
      <p:sp>
        <p:nvSpPr>
          <p:cNvPr id="6" name="Rounded Rectangle 5"/>
          <p:cNvSpPr/>
          <p:nvPr/>
        </p:nvSpPr>
        <p:spPr>
          <a:xfrm>
            <a:off x="548640" y="1481328"/>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36192"/>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8" name="TextBox 7"/>
          <p:cNvSpPr txBox="1"/>
          <p:nvPr/>
        </p:nvSpPr>
        <p:spPr>
          <a:xfrm>
            <a:off x="1280160" y="1517904"/>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Ek ID = Ek Phone (Single-Device Login)</a:t>
            </a:r>
          </a:p>
        </p:txBody>
      </p:sp>
      <p:sp>
        <p:nvSpPr>
          <p:cNvPr id="9" name="TextBox 8"/>
          <p:cNvSpPr txBox="1"/>
          <p:nvPr/>
        </p:nvSpPr>
        <p:spPr>
          <a:xfrm>
            <a:off x="5852160" y="1517904"/>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dusre phone par login karo toh pehla automatically logout — password sharing ka misuse impossible</a:t>
            </a:r>
          </a:p>
        </p:txBody>
      </p:sp>
      <p:sp>
        <p:nvSpPr>
          <p:cNvPr id="10" name="Rounded Rectangle 9"/>
          <p:cNvSpPr/>
          <p:nvPr/>
        </p:nvSpPr>
        <p:spPr>
          <a:xfrm>
            <a:off x="548640" y="2231136"/>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86000"/>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12" name="TextBox 11"/>
          <p:cNvSpPr txBox="1"/>
          <p:nvPr/>
        </p:nvSpPr>
        <p:spPr>
          <a:xfrm>
            <a:off x="1280160" y="2267712"/>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Admin ko dikhta hai kaun LOGGED IN hai</a:t>
            </a:r>
          </a:p>
        </p:txBody>
      </p:sp>
      <p:sp>
        <p:nvSpPr>
          <p:cNvPr id="13" name="TextBox 12"/>
          <p:cNvSpPr txBox="1"/>
          <p:nvPr/>
        </p:nvSpPr>
        <p:spPr>
          <a:xfrm>
            <a:off x="5852160" y="2267712"/>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har student/driver ka device status + Force Logout button</a:t>
            </a:r>
          </a:p>
        </p:txBody>
      </p:sp>
      <p:sp>
        <p:nvSpPr>
          <p:cNvPr id="14" name="Rounded Rectangle 13"/>
          <p:cNvSpPr/>
          <p:nvPr/>
        </p:nvSpPr>
        <p:spPr>
          <a:xfrm>
            <a:off x="548640" y="2980944"/>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035808"/>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16" name="TextBox 15"/>
          <p:cNvSpPr txBox="1"/>
          <p:nvPr/>
        </p:nvSpPr>
        <p:spPr>
          <a:xfrm>
            <a:off x="1280160" y="3017520"/>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Student sirf apni bus dekh sakta hai</a:t>
            </a:r>
          </a:p>
        </p:txBody>
      </p:sp>
      <p:sp>
        <p:nvSpPr>
          <p:cNvPr id="17" name="TextBox 16"/>
          <p:cNvSpPr txBox="1"/>
          <p:nvPr/>
        </p:nvSpPr>
        <p:spPr>
          <a:xfrm>
            <a:off x="5852160" y="3017520"/>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server-side rules — app hack karke bhi bypass nahi hota</a:t>
            </a:r>
          </a:p>
        </p:txBody>
      </p:sp>
      <p:sp>
        <p:nvSpPr>
          <p:cNvPr id="18" name="Rounded Rectangle 17"/>
          <p:cNvSpPr/>
          <p:nvPr/>
        </p:nvSpPr>
        <p:spPr>
          <a:xfrm>
            <a:off x="548640" y="3730752"/>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85616"/>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20" name="TextBox 19"/>
          <p:cNvSpPr txBox="1"/>
          <p:nvPr/>
        </p:nvSpPr>
        <p:spPr>
          <a:xfrm>
            <a:off x="1280160" y="3767328"/>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Koi public tracking link nahi</a:t>
            </a:r>
          </a:p>
        </p:txBody>
      </p:sp>
      <p:sp>
        <p:nvSpPr>
          <p:cNvPr id="21" name="TextBox 20"/>
          <p:cNvSpPr txBox="1"/>
          <p:nvPr/>
        </p:nvSpPr>
        <p:spPr>
          <a:xfrm>
            <a:off x="5852160" y="3767328"/>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bina school account ke kuch nahi dikhta</a:t>
            </a:r>
          </a:p>
        </p:txBody>
      </p:sp>
      <p:sp>
        <p:nvSpPr>
          <p:cNvPr id="22" name="Rounded Rectangle 21"/>
          <p:cNvSpPr/>
          <p:nvPr/>
        </p:nvSpPr>
        <p:spPr>
          <a:xfrm>
            <a:off x="548640" y="4480560"/>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35424"/>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24" name="TextBox 23"/>
          <p:cNvSpPr txBox="1"/>
          <p:nvPr/>
        </p:nvSpPr>
        <p:spPr>
          <a:xfrm>
            <a:off x="1280160" y="4517136"/>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Accounts sirf school banata hai</a:t>
            </a:r>
          </a:p>
        </p:txBody>
      </p:sp>
      <p:sp>
        <p:nvSpPr>
          <p:cNvPr id="25" name="TextBox 24"/>
          <p:cNvSpPr txBox="1"/>
          <p:nvPr/>
        </p:nvSpPr>
        <p:spPr>
          <a:xfrm>
            <a:off x="5852160" y="4517136"/>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koi khud register nahi kar sakta</a:t>
            </a:r>
          </a:p>
        </p:txBody>
      </p:sp>
      <p:sp>
        <p:nvSpPr>
          <p:cNvPr id="26" name="Rounded Rectangle 25"/>
          <p:cNvSpPr/>
          <p:nvPr/>
        </p:nvSpPr>
        <p:spPr>
          <a:xfrm>
            <a:off x="548640" y="5230368"/>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285232"/>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28" name="TextBox 27"/>
          <p:cNvSpPr txBox="1"/>
          <p:nvPr/>
        </p:nvSpPr>
        <p:spPr>
          <a:xfrm>
            <a:off x="1280160" y="5266944"/>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Data minimal &amp; private</a:t>
            </a:r>
          </a:p>
        </p:txBody>
      </p:sp>
      <p:sp>
        <p:nvSpPr>
          <p:cNvPr id="29" name="TextBox 28"/>
          <p:cNvSpPr txBox="1"/>
          <p:nvPr/>
        </p:nvSpPr>
        <p:spPr>
          <a:xfrm>
            <a:off x="5852160" y="5266944"/>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location history store nahi hoti — trip khatam, data delete</a:t>
            </a:r>
          </a:p>
        </p:txBody>
      </p:sp>
      <p:sp>
        <p:nvSpPr>
          <p:cNvPr id="30" name="Rounded Rectangle 29"/>
          <p:cNvSpPr/>
          <p:nvPr/>
        </p:nvSpPr>
        <p:spPr>
          <a:xfrm>
            <a:off x="548640" y="5980176"/>
            <a:ext cx="11064240" cy="658368"/>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6035040"/>
            <a:ext cx="457200" cy="502920"/>
          </a:xfrm>
          <a:prstGeom prst="rect">
            <a:avLst/>
          </a:prstGeom>
          <a:noFill/>
        </p:spPr>
        <p:txBody>
          <a:bodyPr wrap="square" anchor="t">
            <a:spAutoFit/>
          </a:bodyPr>
          <a:lstStyle/>
          <a:p>
            <a:pPr algn="l">
              <a:spcAft>
                <a:spcPts val="600"/>
              </a:spcAft>
            </a:pPr>
            <a:r>
              <a:rPr sz="1500" b="0">
                <a:solidFill>
                  <a:srgbClr val="17233B"/>
                </a:solidFill>
                <a:latin typeface="Calibri"/>
              </a:rPr>
              <a:t>🔒</a:t>
            </a:r>
          </a:p>
        </p:txBody>
      </p:sp>
      <p:sp>
        <p:nvSpPr>
          <p:cNvPr id="32" name="TextBox 31"/>
          <p:cNvSpPr txBox="1"/>
          <p:nvPr/>
        </p:nvSpPr>
        <p:spPr>
          <a:xfrm>
            <a:off x="1280160" y="6016752"/>
            <a:ext cx="4480560" cy="548640"/>
          </a:xfrm>
          <a:prstGeom prst="rect">
            <a:avLst/>
          </a:prstGeom>
          <a:noFill/>
        </p:spPr>
        <p:txBody>
          <a:bodyPr wrap="square" anchor="ctr">
            <a:spAutoFit/>
          </a:bodyPr>
          <a:lstStyle/>
          <a:p>
            <a:pPr algn="l">
              <a:spcAft>
                <a:spcPts val="600"/>
              </a:spcAft>
            </a:pPr>
            <a:r>
              <a:rPr sz="1350" b="1">
                <a:solidFill>
                  <a:srgbClr val="17233B"/>
                </a:solidFill>
                <a:latin typeface="Calibri"/>
              </a:rPr>
              <a:t>Passwords encrypted (Google Firebase)</a:t>
            </a:r>
          </a:p>
        </p:txBody>
      </p:sp>
      <p:sp>
        <p:nvSpPr>
          <p:cNvPr id="33" name="TextBox 32"/>
          <p:cNvSpPr txBox="1"/>
          <p:nvPr/>
        </p:nvSpPr>
        <p:spPr>
          <a:xfrm>
            <a:off x="5852160" y="6016752"/>
            <a:ext cx="5669280" cy="548640"/>
          </a:xfrm>
          <a:prstGeom prst="rect">
            <a:avLst/>
          </a:prstGeom>
          <a:noFill/>
        </p:spPr>
        <p:txBody>
          <a:bodyPr wrap="square" anchor="ctr">
            <a:spAutoFit/>
          </a:bodyPr>
          <a:lstStyle/>
          <a:p>
            <a:pPr algn="l">
              <a:spcAft>
                <a:spcPts val="600"/>
              </a:spcAft>
            </a:pPr>
            <a:r>
              <a:rPr sz="1200" b="0">
                <a:solidFill>
                  <a:srgbClr val="5A6779"/>
                </a:solidFill>
                <a:latin typeface="Calibri"/>
              </a:rPr>
              <a:t>kabhi plain text mein store nahi hote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TECHNOLOGY</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Modern Tech — Android + iPhone Dono Par</a:t>
            </a:r>
          </a:p>
        </p:txBody>
      </p:sp>
      <p:sp>
        <p:nvSpPr>
          <p:cNvPr id="6" name="Rounded Rectangle 5"/>
          <p:cNvSpPr/>
          <p:nvPr/>
        </p:nvSpPr>
        <p:spPr>
          <a:xfrm>
            <a:off x="548640" y="1554480"/>
            <a:ext cx="2697480" cy="18288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554480"/>
            <a:ext cx="2697480" cy="128016"/>
          </a:xfrm>
          <a:prstGeom prst="roundRect">
            <a:avLst>
              <a:gd name="adj" fmla="val 8000"/>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28800"/>
            <a:ext cx="2286000" cy="457200"/>
          </a:xfrm>
          <a:prstGeom prst="rect">
            <a:avLst/>
          </a:prstGeom>
          <a:noFill/>
        </p:spPr>
        <p:txBody>
          <a:bodyPr wrap="square" anchor="t">
            <a:spAutoFit/>
          </a:bodyPr>
          <a:lstStyle/>
          <a:p>
            <a:pPr algn="l">
              <a:spcAft>
                <a:spcPts val="600"/>
              </a:spcAft>
            </a:pPr>
            <a:r>
              <a:rPr sz="1800" b="1">
                <a:solidFill>
                  <a:srgbClr val="17233B"/>
                </a:solidFill>
                <a:latin typeface="Calibri"/>
              </a:rPr>
              <a:t>Flutter</a:t>
            </a:r>
          </a:p>
        </p:txBody>
      </p:sp>
      <p:sp>
        <p:nvSpPr>
          <p:cNvPr id="9" name="TextBox 8"/>
          <p:cNvSpPr txBox="1"/>
          <p:nvPr/>
        </p:nvSpPr>
        <p:spPr>
          <a:xfrm>
            <a:off x="749808" y="2331720"/>
            <a:ext cx="2331720" cy="1005840"/>
          </a:xfrm>
          <a:prstGeom prst="rect">
            <a:avLst/>
          </a:prstGeom>
          <a:noFill/>
        </p:spPr>
        <p:txBody>
          <a:bodyPr wrap="square" anchor="t">
            <a:spAutoFit/>
          </a:bodyPr>
          <a:lstStyle/>
          <a:p>
            <a:pPr algn="l">
              <a:spcAft>
                <a:spcPts val="600"/>
              </a:spcAft>
            </a:pPr>
            <a:r>
              <a:rPr sz="1250" b="0">
                <a:solidFill>
                  <a:srgbClr val="5A6779"/>
                </a:solidFill>
                <a:latin typeface="Calibri"/>
              </a:rPr>
              <a:t>Google ki technology — ek code se Android + iOS dono apps</a:t>
            </a:r>
          </a:p>
        </p:txBody>
      </p:sp>
      <p:sp>
        <p:nvSpPr>
          <p:cNvPr id="10" name="Rounded Rectangle 9"/>
          <p:cNvSpPr/>
          <p:nvPr/>
        </p:nvSpPr>
        <p:spPr>
          <a:xfrm>
            <a:off x="3410712" y="1554480"/>
            <a:ext cx="2697480" cy="18288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0712" y="1554480"/>
            <a:ext cx="2697480" cy="128016"/>
          </a:xfrm>
          <a:prstGeom prst="roundRect">
            <a:avLst>
              <a:gd name="adj" fmla="val 8000"/>
            </a:avLst>
          </a:prstGeom>
          <a:solidFill>
            <a:srgbClr val="8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86000" cy="457200"/>
          </a:xfrm>
          <a:prstGeom prst="rect">
            <a:avLst/>
          </a:prstGeom>
          <a:noFill/>
        </p:spPr>
        <p:txBody>
          <a:bodyPr wrap="square" anchor="t">
            <a:spAutoFit/>
          </a:bodyPr>
          <a:lstStyle/>
          <a:p>
            <a:pPr algn="l">
              <a:spcAft>
                <a:spcPts val="600"/>
              </a:spcAft>
            </a:pPr>
            <a:r>
              <a:rPr sz="1800" b="1">
                <a:solidFill>
                  <a:srgbClr val="17233B"/>
                </a:solidFill>
                <a:latin typeface="Calibri"/>
              </a:rPr>
              <a:t>Firebase</a:t>
            </a:r>
          </a:p>
        </p:txBody>
      </p:sp>
      <p:sp>
        <p:nvSpPr>
          <p:cNvPr id="13" name="TextBox 12"/>
          <p:cNvSpPr txBox="1"/>
          <p:nvPr/>
        </p:nvSpPr>
        <p:spPr>
          <a:xfrm>
            <a:off x="3611880" y="2331720"/>
            <a:ext cx="2331720" cy="1005840"/>
          </a:xfrm>
          <a:prstGeom prst="rect">
            <a:avLst/>
          </a:prstGeom>
          <a:noFill/>
        </p:spPr>
        <p:txBody>
          <a:bodyPr wrap="square" anchor="t">
            <a:spAutoFit/>
          </a:bodyPr>
          <a:lstStyle/>
          <a:p>
            <a:pPr algn="l">
              <a:spcAft>
                <a:spcPts val="600"/>
              </a:spcAft>
            </a:pPr>
            <a:r>
              <a:rPr sz="1250" b="0">
                <a:solidFill>
                  <a:srgbClr val="5A6779"/>
                </a:solidFill>
                <a:latin typeface="Calibri"/>
              </a:rPr>
              <a:t>Google ka secure backend — login, database, real-time</a:t>
            </a:r>
          </a:p>
        </p:txBody>
      </p:sp>
      <p:sp>
        <p:nvSpPr>
          <p:cNvPr id="14" name="Rounded Rectangle 13"/>
          <p:cNvSpPr/>
          <p:nvPr/>
        </p:nvSpPr>
        <p:spPr>
          <a:xfrm>
            <a:off x="6272784" y="1554480"/>
            <a:ext cx="2697480" cy="18288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72784" y="1554480"/>
            <a:ext cx="2697480" cy="128016"/>
          </a:xfrm>
          <a:prstGeom prst="roundRect">
            <a:avLst>
              <a:gd name="adj" fmla="val 8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828800"/>
            <a:ext cx="2286000" cy="457200"/>
          </a:xfrm>
          <a:prstGeom prst="rect">
            <a:avLst/>
          </a:prstGeom>
          <a:noFill/>
        </p:spPr>
        <p:txBody>
          <a:bodyPr wrap="square" anchor="t">
            <a:spAutoFit/>
          </a:bodyPr>
          <a:lstStyle/>
          <a:p>
            <a:pPr algn="l">
              <a:spcAft>
                <a:spcPts val="600"/>
              </a:spcAft>
            </a:pPr>
            <a:r>
              <a:rPr sz="1800" b="1">
                <a:solidFill>
                  <a:srgbClr val="17233B"/>
                </a:solidFill>
                <a:latin typeface="Calibri"/>
              </a:rPr>
              <a:t>OpenStreetMap</a:t>
            </a:r>
          </a:p>
        </p:txBody>
      </p:sp>
      <p:sp>
        <p:nvSpPr>
          <p:cNvPr id="17" name="TextBox 16"/>
          <p:cNvSpPr txBox="1"/>
          <p:nvPr/>
        </p:nvSpPr>
        <p:spPr>
          <a:xfrm>
            <a:off x="6473952" y="2331720"/>
            <a:ext cx="2331720" cy="1005840"/>
          </a:xfrm>
          <a:prstGeom prst="rect">
            <a:avLst/>
          </a:prstGeom>
          <a:noFill/>
        </p:spPr>
        <p:txBody>
          <a:bodyPr wrap="square" anchor="t">
            <a:spAutoFit/>
          </a:bodyPr>
          <a:lstStyle/>
          <a:p>
            <a:pPr algn="l">
              <a:spcAft>
                <a:spcPts val="600"/>
              </a:spcAft>
            </a:pPr>
            <a:r>
              <a:rPr sz="1250" b="0">
                <a:solidFill>
                  <a:srgbClr val="5A6779"/>
                </a:solidFill>
                <a:latin typeface="Calibri"/>
              </a:rPr>
              <a:t>Free world map — koi paid API nahi chahiye</a:t>
            </a:r>
          </a:p>
        </p:txBody>
      </p:sp>
      <p:sp>
        <p:nvSpPr>
          <p:cNvPr id="18" name="Rounded Rectangle 17"/>
          <p:cNvSpPr/>
          <p:nvPr/>
        </p:nvSpPr>
        <p:spPr>
          <a:xfrm>
            <a:off x="9134856" y="1554480"/>
            <a:ext cx="2697480" cy="182880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34856" y="1554480"/>
            <a:ext cx="2697480" cy="128016"/>
          </a:xfrm>
          <a:prstGeom prst="roundRect">
            <a:avLst>
              <a:gd name="adj" fmla="val 8000"/>
            </a:avLst>
          </a:prstGeom>
          <a:solidFill>
            <a:srgbClr val="7B6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6024" y="1828800"/>
            <a:ext cx="2286000" cy="457200"/>
          </a:xfrm>
          <a:prstGeom prst="rect">
            <a:avLst/>
          </a:prstGeom>
          <a:noFill/>
        </p:spPr>
        <p:txBody>
          <a:bodyPr wrap="square" anchor="t">
            <a:spAutoFit/>
          </a:bodyPr>
          <a:lstStyle/>
          <a:p>
            <a:pPr algn="l">
              <a:spcAft>
                <a:spcPts val="600"/>
              </a:spcAft>
            </a:pPr>
            <a:r>
              <a:rPr sz="1800" b="1">
                <a:solidFill>
                  <a:srgbClr val="17233B"/>
                </a:solidFill>
                <a:latin typeface="Calibri"/>
              </a:rPr>
              <a:t>Real-time GPS</a:t>
            </a:r>
          </a:p>
        </p:txBody>
      </p:sp>
      <p:sp>
        <p:nvSpPr>
          <p:cNvPr id="21" name="TextBox 20"/>
          <p:cNvSpPr txBox="1"/>
          <p:nvPr/>
        </p:nvSpPr>
        <p:spPr>
          <a:xfrm>
            <a:off x="9336024" y="2331720"/>
            <a:ext cx="2331720" cy="1005840"/>
          </a:xfrm>
          <a:prstGeom prst="rect">
            <a:avLst/>
          </a:prstGeom>
          <a:noFill/>
        </p:spPr>
        <p:txBody>
          <a:bodyPr wrap="square" anchor="t">
            <a:spAutoFit/>
          </a:bodyPr>
          <a:lstStyle/>
          <a:p>
            <a:pPr algn="l">
              <a:spcAft>
                <a:spcPts val="600"/>
              </a:spcAft>
            </a:pPr>
            <a:r>
              <a:rPr sz="1250" b="0">
                <a:solidFill>
                  <a:srgbClr val="5A6779"/>
                </a:solidFill>
                <a:latin typeface="Calibri"/>
              </a:rPr>
              <a:t>Bus location har 5 second update hoti hai</a:t>
            </a:r>
          </a:p>
        </p:txBody>
      </p:sp>
      <p:sp>
        <p:nvSpPr>
          <p:cNvPr id="22" name="Rounded Rectangle 21"/>
          <p:cNvSpPr/>
          <p:nvPr/>
        </p:nvSpPr>
        <p:spPr>
          <a:xfrm>
            <a:off x="548640" y="3703320"/>
            <a:ext cx="11064240" cy="2468880"/>
          </a:xfrm>
          <a:prstGeom prst="roundRect">
            <a:avLst>
              <a:gd name="adj" fmla="val 8000"/>
            </a:avLst>
          </a:prstGeom>
          <a:solidFill>
            <a:srgbClr val="E8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31920"/>
            <a:ext cx="10424160" cy="2103120"/>
          </a:xfrm>
          <a:prstGeom prst="rect">
            <a:avLst/>
          </a:prstGeom>
          <a:noFill/>
        </p:spPr>
        <p:txBody>
          <a:bodyPr wrap="square" anchor="t">
            <a:spAutoFit/>
          </a:bodyPr>
          <a:lstStyle/>
          <a:p>
            <a:pPr algn="l">
              <a:spcAft>
                <a:spcPts val="700"/>
              </a:spcAft>
            </a:pPr>
            <a:r>
              <a:rPr sz="1600" b="1">
                <a:solidFill>
                  <a:srgbClr val="1A3FA0"/>
                </a:solidFill>
                <a:latin typeface="Calibri"/>
              </a:rPr>
              <a:t>Quality &amp; Platform facts:</a:t>
            </a:r>
          </a:p>
          <a:p>
            <a:pPr algn="l">
              <a:spcAft>
                <a:spcPts val="700"/>
              </a:spcAft>
            </a:pPr>
            <a:r>
              <a:rPr sz="1400" b="0">
                <a:solidFill>
                  <a:srgbClr val="17233B"/>
                </a:solidFill>
                <a:latin typeface="Calibri"/>
              </a:rPr>
              <a:t>✓  Android APK ready &amp; tested — aaj hi install ho sakta hai</a:t>
            </a:r>
          </a:p>
          <a:p>
            <a:pPr algn="l">
              <a:spcAft>
                <a:spcPts val="700"/>
              </a:spcAft>
            </a:pPr>
            <a:r>
              <a:rPr sz="1400" b="0">
                <a:solidFill>
                  <a:srgbClr val="17233B"/>
                </a:solidFill>
                <a:latin typeface="Calibri"/>
              </a:rPr>
              <a:t>✓  iOS (iPhone) — same code, sirf Apple Developer account chahiye ($99/year, school ke naam par)</a:t>
            </a:r>
          </a:p>
          <a:p>
            <a:pPr algn="l">
              <a:spcAft>
                <a:spcPts val="700"/>
              </a:spcAft>
            </a:pPr>
            <a:r>
              <a:rPr sz="1400" b="0">
                <a:solidFill>
                  <a:srgbClr val="17233B"/>
                </a:solidFill>
                <a:latin typeface="Calibri"/>
              </a:rPr>
              <a:t>✓  ~9,000 lines code · 0 analyzer errors · 15/15 automated tests passing</a:t>
            </a:r>
          </a:p>
          <a:p>
            <a:pPr algn="l">
              <a:spcAft>
                <a:spcPts val="700"/>
              </a:spcAft>
            </a:pPr>
            <a:r>
              <a:rPr sz="1400" b="0">
                <a:solidFill>
                  <a:srgbClr val="17233B"/>
                </a:solidFill>
                <a:latin typeface="Calibri"/>
              </a:rPr>
              <a:t>✓  Running cost: chhote school ke liye approx ₹0/month (Google free tier)</a:t>
            </a:r>
          </a:p>
          <a:p>
            <a:pPr algn="l">
              <a:spcAft>
                <a:spcPts val="700"/>
              </a:spcAft>
            </a:pPr>
            <a:r>
              <a:rPr sz="1400" b="0">
                <a:solidFill>
                  <a:srgbClr val="17233B"/>
                </a:solidFill>
                <a:latin typeface="Calibri"/>
              </a:rPr>
              <a:t>✓  Version 1.2.0 — single-device security, roll-number login, trip history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LIVE DEMO</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Ab Main Chala Ke Dikhata Hoon 🎬</a:t>
            </a:r>
          </a:p>
        </p:txBody>
      </p:sp>
      <p:sp>
        <p:nvSpPr>
          <p:cNvPr id="6" name="Rounded Rectangle 5"/>
          <p:cNvSpPr/>
          <p:nvPr/>
        </p:nvSpPr>
        <p:spPr>
          <a:xfrm>
            <a:off x="1097280" y="150876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25880" y="164592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8" name="TextBox 7"/>
          <p:cNvSpPr txBox="1"/>
          <p:nvPr/>
        </p:nvSpPr>
        <p:spPr>
          <a:xfrm>
            <a:off x="2011680" y="160020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Admin login</a:t>
            </a:r>
          </a:p>
        </p:txBody>
      </p:sp>
      <p:sp>
        <p:nvSpPr>
          <p:cNvPr id="9" name="TextBox 8"/>
          <p:cNvSpPr txBox="1"/>
          <p:nvPr/>
        </p:nvSpPr>
        <p:spPr>
          <a:xfrm>
            <a:off x="4846320" y="160020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Dashboard — buses, students, active trips ek nazar mein</a:t>
            </a:r>
          </a:p>
        </p:txBody>
      </p:sp>
      <p:sp>
        <p:nvSpPr>
          <p:cNvPr id="10" name="Rounded Rectangle 9"/>
          <p:cNvSpPr/>
          <p:nvPr/>
        </p:nvSpPr>
        <p:spPr>
          <a:xfrm>
            <a:off x="1097280" y="233172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25880" y="246888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2" name="TextBox 11"/>
          <p:cNvSpPr txBox="1"/>
          <p:nvPr/>
        </p:nvSpPr>
        <p:spPr>
          <a:xfrm>
            <a:off x="2011680" y="242316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Student add karo</a:t>
            </a:r>
          </a:p>
        </p:txBody>
      </p:sp>
      <p:sp>
        <p:nvSpPr>
          <p:cNvPr id="13" name="TextBox 12"/>
          <p:cNvSpPr txBox="1"/>
          <p:nvPr/>
        </p:nvSpPr>
        <p:spPr>
          <a:xfrm>
            <a:off x="4846320" y="242316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Class dropdown + Roll number — 30 second ka kaam</a:t>
            </a:r>
          </a:p>
        </p:txBody>
      </p:sp>
      <p:sp>
        <p:nvSpPr>
          <p:cNvPr id="14" name="Rounded Rectangle 13"/>
          <p:cNvSpPr/>
          <p:nvPr/>
        </p:nvSpPr>
        <p:spPr>
          <a:xfrm>
            <a:off x="1097280" y="315468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25880" y="329184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6" name="TextBox 15"/>
          <p:cNvSpPr txBox="1"/>
          <p:nvPr/>
        </p:nvSpPr>
        <p:spPr>
          <a:xfrm>
            <a:off x="2011680" y="324612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Driver phone</a:t>
            </a:r>
          </a:p>
        </p:txBody>
      </p:sp>
      <p:sp>
        <p:nvSpPr>
          <p:cNvPr id="17" name="TextBox 16"/>
          <p:cNvSpPr txBox="1"/>
          <p:nvPr/>
        </p:nvSpPr>
        <p:spPr>
          <a:xfrm>
            <a:off x="4846320" y="324612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START TRIP dabaya — GPS sharing on</a:t>
            </a:r>
          </a:p>
        </p:txBody>
      </p:sp>
      <p:sp>
        <p:nvSpPr>
          <p:cNvPr id="18" name="Rounded Rectangle 17"/>
          <p:cNvSpPr/>
          <p:nvPr/>
        </p:nvSpPr>
        <p:spPr>
          <a:xfrm>
            <a:off x="1097280" y="397764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25880" y="411480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20" name="TextBox 19"/>
          <p:cNvSpPr txBox="1"/>
          <p:nvPr/>
        </p:nvSpPr>
        <p:spPr>
          <a:xfrm>
            <a:off x="2011680" y="406908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Student phone</a:t>
            </a:r>
          </a:p>
        </p:txBody>
      </p:sp>
      <p:sp>
        <p:nvSpPr>
          <p:cNvPr id="21" name="TextBox 20"/>
          <p:cNvSpPr txBox="1"/>
          <p:nvPr/>
        </p:nvSpPr>
        <p:spPr>
          <a:xfrm>
            <a:off x="4846320" y="406908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Class 7-B + Roll 23 + password se login → Track My Bus → LIVE! 🚌</a:t>
            </a:r>
          </a:p>
        </p:txBody>
      </p:sp>
      <p:sp>
        <p:nvSpPr>
          <p:cNvPr id="22" name="Rounded Rectangle 21"/>
          <p:cNvSpPr/>
          <p:nvPr/>
        </p:nvSpPr>
        <p:spPr>
          <a:xfrm>
            <a:off x="1097280" y="480060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25880" y="493776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24" name="TextBox 23"/>
          <p:cNvSpPr txBox="1"/>
          <p:nvPr/>
        </p:nvSpPr>
        <p:spPr>
          <a:xfrm>
            <a:off x="2011680" y="489204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Security demo</a:t>
            </a:r>
          </a:p>
        </p:txBody>
      </p:sp>
      <p:sp>
        <p:nvSpPr>
          <p:cNvPr id="25" name="TextBox 24"/>
          <p:cNvSpPr txBox="1"/>
          <p:nvPr/>
        </p:nvSpPr>
        <p:spPr>
          <a:xfrm>
            <a:off x="4846320" y="489204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Dusre phone par same ID login → pehla phone auto-logout!</a:t>
            </a:r>
          </a:p>
        </p:txBody>
      </p:sp>
      <p:sp>
        <p:nvSpPr>
          <p:cNvPr id="26" name="Rounded Rectangle 25"/>
          <p:cNvSpPr/>
          <p:nvPr/>
        </p:nvSpPr>
        <p:spPr>
          <a:xfrm>
            <a:off x="1097280" y="5623560"/>
            <a:ext cx="9966960" cy="73152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25880" y="5760720"/>
            <a:ext cx="457200" cy="457200"/>
          </a:xfrm>
          <a:prstGeom prst="ellipse">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8" name="TextBox 27"/>
          <p:cNvSpPr txBox="1"/>
          <p:nvPr/>
        </p:nvSpPr>
        <p:spPr>
          <a:xfrm>
            <a:off x="2011680" y="5715000"/>
            <a:ext cx="2743200" cy="548640"/>
          </a:xfrm>
          <a:prstGeom prst="rect">
            <a:avLst/>
          </a:prstGeom>
          <a:noFill/>
        </p:spPr>
        <p:txBody>
          <a:bodyPr wrap="square" anchor="ctr">
            <a:spAutoFit/>
          </a:bodyPr>
          <a:lstStyle/>
          <a:p>
            <a:pPr algn="l">
              <a:spcAft>
                <a:spcPts val="600"/>
              </a:spcAft>
            </a:pPr>
            <a:r>
              <a:rPr sz="1550" b="1">
                <a:solidFill>
                  <a:srgbClr val="17233B"/>
                </a:solidFill>
                <a:latin typeface="Calibri"/>
              </a:rPr>
              <a:t>Admin panel</a:t>
            </a:r>
          </a:p>
        </p:txBody>
      </p:sp>
      <p:sp>
        <p:nvSpPr>
          <p:cNvPr id="29" name="TextBox 28"/>
          <p:cNvSpPr txBox="1"/>
          <p:nvPr/>
        </p:nvSpPr>
        <p:spPr>
          <a:xfrm>
            <a:off x="4846320" y="5715000"/>
            <a:ext cx="5943600" cy="548640"/>
          </a:xfrm>
          <a:prstGeom prst="rect">
            <a:avLst/>
          </a:prstGeom>
          <a:noFill/>
        </p:spPr>
        <p:txBody>
          <a:bodyPr wrap="square" anchor="ctr">
            <a:spAutoFit/>
          </a:bodyPr>
          <a:lstStyle/>
          <a:p>
            <a:pPr algn="l">
              <a:spcAft>
                <a:spcPts val="600"/>
              </a:spcAft>
            </a:pPr>
            <a:r>
              <a:rPr sz="1350" b="0">
                <a:solidFill>
                  <a:srgbClr val="5A6779"/>
                </a:solidFill>
                <a:latin typeface="Calibri"/>
              </a:rPr>
              <a:t>LOGGED IN status + Force Logout button dikhao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
          </a:xfrm>
          <a:prstGeom prst="rect">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8229600" cy="320040"/>
          </a:xfrm>
          <a:prstGeom prst="rect">
            <a:avLst/>
          </a:prstGeom>
          <a:noFill/>
        </p:spPr>
        <p:txBody>
          <a:bodyPr wrap="square" anchor="t">
            <a:spAutoFit/>
          </a:bodyPr>
          <a:lstStyle/>
          <a:p>
            <a:pPr algn="l">
              <a:spcAft>
                <a:spcPts val="600"/>
              </a:spcAft>
            </a:pPr>
            <a:r>
              <a:rPr sz="1200" b="1">
                <a:solidFill>
                  <a:srgbClr val="FFFFFF"/>
                </a:solidFill>
                <a:latin typeface="Calibri"/>
              </a:rPr>
              <a:t>NEXT STEPS</a:t>
            </a:r>
          </a:p>
        </p:txBody>
      </p:sp>
      <p:sp>
        <p:nvSpPr>
          <p:cNvPr id="5" name="TextBox 4"/>
          <p:cNvSpPr txBox="1"/>
          <p:nvPr/>
        </p:nvSpPr>
        <p:spPr>
          <a:xfrm>
            <a:off x="548640" y="566928"/>
            <a:ext cx="11155680" cy="822960"/>
          </a:xfrm>
          <a:prstGeom prst="rect">
            <a:avLst/>
          </a:prstGeom>
          <a:noFill/>
        </p:spPr>
        <p:txBody>
          <a:bodyPr wrap="square" anchor="t">
            <a:spAutoFit/>
          </a:bodyPr>
          <a:lstStyle/>
          <a:p>
            <a:pPr algn="l">
              <a:spcAft>
                <a:spcPts val="600"/>
              </a:spcAft>
            </a:pPr>
            <a:r>
              <a:rPr sz="3000" b="1">
                <a:solidFill>
                  <a:srgbClr val="1A3FA0"/>
                </a:solidFill>
                <a:latin typeface="Calibri"/>
              </a:rPr>
              <a:t>Launch Plan — Chhota Start, Bada Impact</a:t>
            </a:r>
          </a:p>
        </p:txBody>
      </p:sp>
      <p:sp>
        <p:nvSpPr>
          <p:cNvPr id="6" name="Rounded Rectangle 5"/>
          <p:cNvSpPr/>
          <p:nvPr/>
        </p:nvSpPr>
        <p:spPr>
          <a:xfrm>
            <a:off x="548640" y="1554480"/>
            <a:ext cx="3657600" cy="265176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554480"/>
            <a:ext cx="3657600" cy="548640"/>
          </a:xfrm>
          <a:prstGeom prst="roundRect">
            <a:avLst>
              <a:gd name="adj" fmla="val 8000"/>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3291840" cy="411480"/>
          </a:xfrm>
          <a:prstGeom prst="rect">
            <a:avLst/>
          </a:prstGeom>
          <a:noFill/>
        </p:spPr>
        <p:txBody>
          <a:bodyPr wrap="square" anchor="t">
            <a:spAutoFit/>
          </a:bodyPr>
          <a:lstStyle/>
          <a:p>
            <a:pPr algn="l">
              <a:spcAft>
                <a:spcPts val="600"/>
              </a:spcAft>
            </a:pPr>
            <a:r>
              <a:rPr sz="1450" b="1">
                <a:solidFill>
                  <a:srgbClr val="FFFFFF"/>
                </a:solidFill>
                <a:latin typeface="Calibri"/>
              </a:rPr>
              <a:t>Phase 1 — Pilot (2 weeks)</a:t>
            </a:r>
          </a:p>
        </p:txBody>
      </p:sp>
      <p:sp>
        <p:nvSpPr>
          <p:cNvPr id="9" name="TextBox 8"/>
          <p:cNvSpPr txBox="1"/>
          <p:nvPr/>
        </p:nvSpPr>
        <p:spPr>
          <a:xfrm>
            <a:off x="822960" y="228600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1 bus, 1 driver, ~20 students</a:t>
            </a:r>
          </a:p>
        </p:txBody>
      </p:sp>
      <p:sp>
        <p:nvSpPr>
          <p:cNvPr id="10" name="TextBox 9"/>
          <p:cNvSpPr txBox="1"/>
          <p:nvPr/>
        </p:nvSpPr>
        <p:spPr>
          <a:xfrm>
            <a:off x="822960" y="278892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Feedback lo, improve karo</a:t>
            </a:r>
          </a:p>
        </p:txBody>
      </p:sp>
      <p:sp>
        <p:nvSpPr>
          <p:cNvPr id="11" name="Rounded Rectangle 10"/>
          <p:cNvSpPr/>
          <p:nvPr/>
        </p:nvSpPr>
        <p:spPr>
          <a:xfrm>
            <a:off x="4434840" y="1554480"/>
            <a:ext cx="3657600" cy="265176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34840" y="1554480"/>
            <a:ext cx="3657600" cy="548640"/>
          </a:xfrm>
          <a:prstGeom prst="roundRect">
            <a:avLst>
              <a:gd name="adj" fmla="val 8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627632"/>
            <a:ext cx="3291840" cy="411480"/>
          </a:xfrm>
          <a:prstGeom prst="rect">
            <a:avLst/>
          </a:prstGeom>
          <a:noFill/>
        </p:spPr>
        <p:txBody>
          <a:bodyPr wrap="square" anchor="t">
            <a:spAutoFit/>
          </a:bodyPr>
          <a:lstStyle/>
          <a:p>
            <a:pPr algn="l">
              <a:spcAft>
                <a:spcPts val="600"/>
              </a:spcAft>
            </a:pPr>
            <a:r>
              <a:rPr sz="1450" b="1">
                <a:solidFill>
                  <a:srgbClr val="FFFFFF"/>
                </a:solidFill>
                <a:latin typeface="Calibri"/>
              </a:rPr>
              <a:t>Phase 2 — Full Rollout</a:t>
            </a:r>
          </a:p>
        </p:txBody>
      </p:sp>
      <p:sp>
        <p:nvSpPr>
          <p:cNvPr id="14" name="TextBox 13"/>
          <p:cNvSpPr txBox="1"/>
          <p:nvPr/>
        </p:nvSpPr>
        <p:spPr>
          <a:xfrm>
            <a:off x="4709160" y="228600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Saari buses + routes</a:t>
            </a:r>
          </a:p>
        </p:txBody>
      </p:sp>
      <p:sp>
        <p:nvSpPr>
          <p:cNvPr id="15" name="TextBox 14"/>
          <p:cNvSpPr txBox="1"/>
          <p:nvPr/>
        </p:nvSpPr>
        <p:spPr>
          <a:xfrm>
            <a:off x="4709160" y="278892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Parents ko onboarding note</a:t>
            </a:r>
          </a:p>
        </p:txBody>
      </p:sp>
      <p:sp>
        <p:nvSpPr>
          <p:cNvPr id="16" name="Rounded Rectangle 15"/>
          <p:cNvSpPr/>
          <p:nvPr/>
        </p:nvSpPr>
        <p:spPr>
          <a:xfrm>
            <a:off x="8321040" y="1554480"/>
            <a:ext cx="3657600" cy="2651760"/>
          </a:xfrm>
          <a:prstGeom prst="roundRect">
            <a:avLst>
              <a:gd name="adj" fmla="val 8000"/>
            </a:avLst>
          </a:prstGeom>
          <a:solidFill>
            <a:srgbClr val="FFFFFF"/>
          </a:solidFill>
          <a:ln w="15240">
            <a:solidFill>
              <a:srgbClr val="E4E9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21040" y="1554480"/>
            <a:ext cx="3657600" cy="548640"/>
          </a:xfrm>
          <a:prstGeom prst="roundRect">
            <a:avLst>
              <a:gd name="adj" fmla="val 8000"/>
            </a:avLst>
          </a:prstGeom>
          <a:solidFill>
            <a:srgbClr val="8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1627632"/>
            <a:ext cx="3291840" cy="411480"/>
          </a:xfrm>
          <a:prstGeom prst="rect">
            <a:avLst/>
          </a:prstGeom>
          <a:noFill/>
        </p:spPr>
        <p:txBody>
          <a:bodyPr wrap="square" anchor="t">
            <a:spAutoFit/>
          </a:bodyPr>
          <a:lstStyle/>
          <a:p>
            <a:pPr algn="l">
              <a:spcAft>
                <a:spcPts val="600"/>
              </a:spcAft>
            </a:pPr>
            <a:r>
              <a:rPr sz="1450" b="1">
                <a:solidFill>
                  <a:srgbClr val="FFFFFF"/>
                </a:solidFill>
                <a:latin typeface="Calibri"/>
              </a:rPr>
              <a:t>Phase 3 — Future</a:t>
            </a:r>
          </a:p>
        </p:txBody>
      </p:sp>
      <p:sp>
        <p:nvSpPr>
          <p:cNvPr id="19" name="TextBox 18"/>
          <p:cNvSpPr txBox="1"/>
          <p:nvPr/>
        </p:nvSpPr>
        <p:spPr>
          <a:xfrm>
            <a:off x="8595360" y="228600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iPhone version launch</a:t>
            </a:r>
          </a:p>
        </p:txBody>
      </p:sp>
      <p:sp>
        <p:nvSpPr>
          <p:cNvPr id="20" name="TextBox 19"/>
          <p:cNvSpPr txBox="1"/>
          <p:nvPr/>
        </p:nvSpPr>
        <p:spPr>
          <a:xfrm>
            <a:off x="8595360" y="278892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Parent accounts</a:t>
            </a:r>
          </a:p>
        </p:txBody>
      </p:sp>
      <p:sp>
        <p:nvSpPr>
          <p:cNvPr id="21" name="TextBox 20"/>
          <p:cNvSpPr txBox="1"/>
          <p:nvPr/>
        </p:nvSpPr>
        <p:spPr>
          <a:xfrm>
            <a:off x="8595360" y="3291840"/>
            <a:ext cx="3200400" cy="548640"/>
          </a:xfrm>
          <a:prstGeom prst="rect">
            <a:avLst/>
          </a:prstGeom>
          <a:noFill/>
        </p:spPr>
        <p:txBody>
          <a:bodyPr wrap="square" anchor="t">
            <a:spAutoFit/>
          </a:bodyPr>
          <a:lstStyle/>
          <a:p>
            <a:pPr algn="l">
              <a:spcAft>
                <a:spcPts val="600"/>
              </a:spcAft>
            </a:pPr>
            <a:r>
              <a:rPr sz="1350" b="0">
                <a:solidFill>
                  <a:srgbClr val="17233B"/>
                </a:solidFill>
                <a:latin typeface="Calibri"/>
              </a:rPr>
              <a:t>•  Aur bhi features</a:t>
            </a:r>
          </a:p>
        </p:txBody>
      </p:sp>
      <p:sp>
        <p:nvSpPr>
          <p:cNvPr id="22" name="Rounded Rectangle 21"/>
          <p:cNvSpPr/>
          <p:nvPr/>
        </p:nvSpPr>
        <p:spPr>
          <a:xfrm>
            <a:off x="548640" y="4572000"/>
            <a:ext cx="11064240" cy="1554480"/>
          </a:xfrm>
          <a:prstGeom prst="roundRect">
            <a:avLst>
              <a:gd name="adj" fmla="val 8000"/>
            </a:avLst>
          </a:prstGeom>
          <a:solidFill>
            <a:srgbClr val="255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46320"/>
            <a:ext cx="11064240" cy="1188720"/>
          </a:xfrm>
          <a:prstGeom prst="rect">
            <a:avLst/>
          </a:prstGeom>
          <a:noFill/>
        </p:spPr>
        <p:txBody>
          <a:bodyPr wrap="square" anchor="t">
            <a:spAutoFit/>
          </a:bodyPr>
          <a:lstStyle/>
          <a:p>
            <a:pPr algn="ctr">
              <a:spcAft>
                <a:spcPts val="1000"/>
              </a:spcAft>
            </a:pPr>
            <a:r>
              <a:rPr sz="1900" b="1">
                <a:solidFill>
                  <a:srgbClr val="FFFFFF"/>
                </a:solidFill>
                <a:latin typeface="Calibri"/>
              </a:rPr>
              <a:t>Never Miss Bus — kyunki har bachche ka time, safety aur parents ka sukoon important hai.</a:t>
            </a:r>
          </a:p>
          <a:p>
            <a:pPr algn="ctr">
              <a:spcAft>
                <a:spcPts val="1000"/>
              </a:spcAft>
            </a:pPr>
            <a:r>
              <a:rPr sz="1500" b="0">
                <a:solidFill>
                  <a:srgbClr val="CFE0FF"/>
                </a:solidFill>
                <a:latin typeface="Calibri"/>
              </a:rPr>
              <a:t>Questions?  Demo ready hai! 🚌  |  Android + iOS  |  Secure  |  ~₹0/month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